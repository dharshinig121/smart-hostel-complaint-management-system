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68" r:id="rId3"/>
    <p:sldId id="267" r:id="rId4"/>
    <p:sldId id="259" r:id="rId5"/>
    <p:sldId id="258" r:id="rId6"/>
    <p:sldId id="257" r:id="rId7"/>
    <p:sldId id="260" r:id="rId8"/>
    <p:sldId id="261" r:id="rId9"/>
    <p:sldId id="262" r:id="rId10"/>
    <p:sldId id="263" r:id="rId11"/>
    <p:sldId id="264" r:id="rId12"/>
    <p:sldId id="265" r:id="rId13"/>
    <p:sldId id="266"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3000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M">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M">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914400"/>
            <a:ext cx="10908792" cy="36576"/>
          </a:xfrm>
          <a:prstGeom prst="rect">
            <a:avLst/>
          </a:prstGeom>
          <a:solidFill>
            <a:schemeClr val="accent1"/>
          </a:solidFill>
          <a:ln/>
        </p:spPr>
      </p:sp>
      <p:sp>
        <p:nvSpPr>
          <p:cNvPr id="3" name="Shape 1"/>
          <p:cNvSpPr/>
          <p:nvPr/>
        </p:nvSpPr>
        <p:spPr>
          <a:xfrm>
            <a:off x="640080" y="6355080"/>
            <a:ext cx="10908792" cy="18288"/>
          </a:xfrm>
          <a:prstGeom prst="rect">
            <a:avLst/>
          </a:prstGeom>
          <a:solidFill>
            <a:schemeClr val="accent1"/>
          </a:solidFill>
          <a:ln/>
        </p:spPr>
      </p:sp>
      <p:sp>
        <p:nvSpPr>
          <p:cNvPr id="4" name="Text 2"/>
          <p:cNvSpPr/>
          <p:nvPr/>
        </p:nvSpPr>
        <p:spPr>
          <a:xfrm>
            <a:off x="640080" y="6400800"/>
            <a:ext cx="2286000" cy="320040"/>
          </a:xfrm>
          <a:prstGeom prst="rect">
            <a:avLst/>
          </a:prstGeom>
          <a:noFill/>
          <a:ln/>
        </p:spPr>
        <p:txBody>
          <a:bodyPr wrap="square" lIns="0" tIns="0" rIns="0" bIns="0" rtlCol="0" anchor="ctr"/>
          <a:lstStyle/>
          <a:p>
            <a:pPr marL="0" indent="0">
              <a:buNone/>
            </a:pPr>
            <a:r>
              <a:rPr lang="en-US" sz="1100" dirty="0">
                <a:solidFill>
                  <a:schemeClr val="accent1"/>
                </a:solidFill>
              </a:rPr>
              <a:t>Project Review</a:t>
            </a:r>
            <a:endParaRPr lang="en-US" sz="1100" dirty="0"/>
          </a:p>
        </p:txBody>
      </p:sp>
      <p:sp>
        <p:nvSpPr>
          <p:cNvPr id="5" name="Text 3"/>
          <p:cNvSpPr/>
          <p:nvPr/>
        </p:nvSpPr>
        <p:spPr>
          <a:xfrm>
            <a:off x="2926080" y="6400800"/>
            <a:ext cx="6309360" cy="320040"/>
          </a:xfrm>
          <a:prstGeom prst="rect">
            <a:avLst/>
          </a:prstGeom>
          <a:noFill/>
          <a:ln/>
        </p:spPr>
        <p:txBody>
          <a:bodyPr wrap="square" lIns="0" tIns="0" rIns="0" bIns="0" rtlCol="0" anchor="ctr"/>
          <a:lstStyle/>
          <a:p>
            <a:pPr marL="0" indent="0" algn="ctr">
              <a:buNone/>
            </a:pPr>
            <a:r>
              <a:rPr lang="en-US" sz="1200" dirty="0">
                <a:solidFill>
                  <a:schemeClr val="tx1"/>
                </a:solidFill>
              </a:rPr>
              <a:t>Department of Computer Science and Engineering</a:t>
            </a:r>
            <a:endParaRPr lang="en-US" sz="1200" dirty="0"/>
          </a:p>
        </p:txBody>
      </p:sp>
      <p:sp>
        <p:nvSpPr>
          <p:cNvPr id="6" name="Text 4"/>
          <p:cNvSpPr>
            <a:spLocks noGrp="1"/>
          </p:cNvSpPr>
          <p:nvPr>
            <p:ph type="title" idx="104" hasCustomPrompt="1"/>
          </p:nvPr>
        </p:nvSpPr>
        <p:spPr>
          <a:xfrm>
            <a:off x="640080" y="274320"/>
            <a:ext cx="10908792" cy="548640"/>
          </a:xfrm>
          <a:prstGeom prst="rect">
            <a:avLst/>
          </a:prstGeom>
          <a:noFill/>
          <a:ln/>
        </p:spPr>
        <p:txBody>
          <a:bodyPr wrap="square" rtlCol="0"/>
          <a:lstStyle>
            <a:lvl1pPr marL="0" indent="0" algn="ctr">
              <a:buNone/>
              <a:defRPr lang="en-US" sz="2600" b="1" dirty="0">
                <a:solidFill>
                  <a:schemeClr val="tx2"/>
                </a:solidFill>
              </a:defRPr>
            </a:lvl1pPr>
          </a:lstStyle>
          <a:p>
            <a:pPr marL="0" indent="0" algn="ctr">
              <a:buNone/>
            </a:pPr>
            <a:endParaRPr lang="en-US" sz="2600" dirty="0"/>
          </a:p>
        </p:txBody>
      </p:sp>
      <p:sp>
        <p:nvSpPr>
          <p:cNvPr id="25" name="Slide Number Placeholder 0"/>
          <p:cNvSpPr>
            <a:spLocks noGrp="1"/>
          </p:cNvSpPr>
          <p:nvPr>
            <p:ph type="sldNum" sz="quarter" idx="4294967295"/>
          </p:nvPr>
        </p:nvSpPr>
        <p:spPr>
          <a:xfrm>
            <a:off x="10789920" y="6400800"/>
            <a:ext cx="758952" cy="32004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1"/>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89920" y="6400800"/>
            <a:ext cx="758952" cy="32004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1"/>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College logo"/>
          <p:cNvPicPr>
            <a:picLocks noChangeAspect="1"/>
          </p:cNvPicPr>
          <p:nvPr/>
        </p:nvPicPr>
        <p:blipFill>
          <a:blip r:embed="rId3"/>
          <a:stretch>
            <a:fillRect/>
          </a:stretch>
        </p:blipFill>
        <p:spPr>
          <a:xfrm>
            <a:off x="640080" y="274320"/>
            <a:ext cx="3108960" cy="1005840"/>
          </a:xfrm>
          <a:prstGeom prst="rect">
            <a:avLst/>
          </a:prstGeom>
        </p:spPr>
      </p:pic>
      <p:pic>
        <p:nvPicPr>
          <p:cNvPr id="3" name="Image 1" descr="25 years badge"/>
          <p:cNvPicPr>
            <a:picLocks noChangeAspect="1"/>
          </p:cNvPicPr>
          <p:nvPr/>
        </p:nvPicPr>
        <p:blipFill>
          <a:blip r:embed="rId4"/>
          <a:stretch>
            <a:fillRect/>
          </a:stretch>
        </p:blipFill>
        <p:spPr>
          <a:xfrm>
            <a:off x="10789920" y="274320"/>
            <a:ext cx="822960" cy="941832"/>
          </a:xfrm>
          <a:prstGeom prst="rect">
            <a:avLst/>
          </a:prstGeom>
        </p:spPr>
      </p:pic>
      <p:sp>
        <p:nvSpPr>
          <p:cNvPr id="4" name="Text 0"/>
          <p:cNvSpPr txBox="1"/>
          <p:nvPr/>
        </p:nvSpPr>
        <p:spPr>
          <a:xfrm>
            <a:off x="640080" y="1417320"/>
            <a:ext cx="10908792" cy="548640"/>
          </a:xfrm>
          <a:prstGeom prst="rect">
            <a:avLst/>
          </a:prstGeom>
          <a:noFill/>
          <a:ln/>
        </p:spPr>
        <p:txBody>
          <a:bodyPr wrap="square" lIns="0" tIns="0" rIns="0" bIns="0" rtlCol="0" anchor="ctr"/>
          <a:lstStyle/>
          <a:p>
            <a:pPr marL="0" indent="0">
              <a:buNone/>
            </a:pPr>
            <a:r>
              <a:rPr lang="en-US" sz="2700" b="1" dirty="0">
                <a:solidFill>
                  <a:schemeClr val="tx2"/>
                </a:solidFill>
              </a:rPr>
              <a:t>DEPARTMENT OF COMPUTER SCIENCE AND ENGINEERING</a:t>
            </a:r>
            <a:endParaRPr lang="en-US" sz="2700" dirty="0"/>
          </a:p>
        </p:txBody>
      </p:sp>
      <p:sp>
        <p:nvSpPr>
          <p:cNvPr id="5" name="Shape 1"/>
          <p:cNvSpPr/>
          <p:nvPr/>
        </p:nvSpPr>
        <p:spPr>
          <a:xfrm>
            <a:off x="640080" y="2057400"/>
            <a:ext cx="10908792" cy="54864"/>
          </a:xfrm>
          <a:prstGeom prst="rect">
            <a:avLst/>
          </a:prstGeom>
          <a:solidFill>
            <a:schemeClr val="accent1"/>
          </a:solidFill>
          <a:ln/>
        </p:spPr>
      </p:sp>
      <p:sp>
        <p:nvSpPr>
          <p:cNvPr id="6" name="Text 2"/>
          <p:cNvSpPr txBox="1"/>
          <p:nvPr/>
        </p:nvSpPr>
        <p:spPr>
          <a:xfrm>
            <a:off x="640079" y="2377440"/>
            <a:ext cx="11186735" cy="1188720"/>
          </a:xfrm>
          <a:prstGeom prst="rect">
            <a:avLst/>
          </a:prstGeom>
          <a:noFill/>
          <a:ln/>
        </p:spPr>
        <p:txBody>
          <a:bodyPr wrap="square" lIns="0" tIns="0" rIns="0" bIns="0" rtlCol="0" anchor="t"/>
          <a:lstStyle/>
          <a:p>
            <a:pPr marL="0" indent="0">
              <a:buNone/>
            </a:pPr>
            <a:r>
              <a:rPr lang="en-US" sz="3000" b="1" dirty="0">
                <a:solidFill>
                  <a:schemeClr val="tx2"/>
                </a:solidFill>
              </a:rPr>
              <a:t>SMART HOSTEL COMPLAINT MANAGEMENT SYSTEM</a:t>
            </a:r>
            <a:endParaRPr lang="en-US" sz="3000" dirty="0"/>
          </a:p>
        </p:txBody>
      </p:sp>
      <p:sp>
        <p:nvSpPr>
          <p:cNvPr id="7" name="Text 3"/>
          <p:cNvSpPr txBox="1"/>
          <p:nvPr/>
        </p:nvSpPr>
        <p:spPr>
          <a:xfrm>
            <a:off x="640080" y="3657600"/>
            <a:ext cx="5943600" cy="411480"/>
          </a:xfrm>
          <a:prstGeom prst="rect">
            <a:avLst/>
          </a:prstGeom>
          <a:noFill/>
          <a:ln/>
        </p:spPr>
        <p:txBody>
          <a:bodyPr wrap="square" lIns="0" tIns="0" rIns="0" bIns="0" rtlCol="0" anchor="ctr"/>
          <a:lstStyle/>
          <a:p>
            <a:pPr marL="0" indent="0">
              <a:buNone/>
            </a:pPr>
            <a:endParaRPr lang="en-US" sz="1900" dirty="0"/>
          </a:p>
        </p:txBody>
      </p:sp>
      <p:sp>
        <p:nvSpPr>
          <p:cNvPr id="8" name="Text 4"/>
          <p:cNvSpPr txBox="1"/>
          <p:nvPr/>
        </p:nvSpPr>
        <p:spPr>
          <a:xfrm>
            <a:off x="640080" y="2112264"/>
            <a:ext cx="8503920" cy="2062921"/>
          </a:xfrm>
          <a:prstGeom prst="rect">
            <a:avLst/>
          </a:prstGeom>
          <a:noFill/>
          <a:ln/>
        </p:spPr>
        <p:txBody>
          <a:bodyPr wrap="square" lIns="0" tIns="0" rIns="0" bIns="0" rtlCol="0" anchor="ctr"/>
          <a:lstStyle/>
          <a:p>
            <a:pPr marL="0" indent="0">
              <a:buNone/>
            </a:pPr>
            <a:r>
              <a:rPr lang="en-US" sz="1400" b="1" dirty="0">
                <a:solidFill>
                  <a:schemeClr val="accent6"/>
                </a:solidFill>
              </a:rPr>
              <a:t>                                                           WEB PROGRAMMING COURSE PROJECT</a:t>
            </a:r>
            <a:endParaRPr lang="en-US" sz="1400" dirty="0"/>
          </a:p>
        </p:txBody>
      </p:sp>
      <p:sp>
        <p:nvSpPr>
          <p:cNvPr id="9" name="Text 5"/>
          <p:cNvSpPr txBox="1"/>
          <p:nvPr/>
        </p:nvSpPr>
        <p:spPr>
          <a:xfrm>
            <a:off x="3749040" y="3429000"/>
            <a:ext cx="3686929" cy="1691640"/>
          </a:xfrm>
          <a:prstGeom prst="rect">
            <a:avLst/>
          </a:prstGeom>
          <a:noFill/>
          <a:ln/>
        </p:spPr>
        <p:txBody>
          <a:bodyPr wrap="square" lIns="0" tIns="0" rIns="0" bIns="0" rtlCol="0" anchor="ctr"/>
          <a:lstStyle/>
          <a:p>
            <a:pPr marL="0" indent="0">
              <a:buNone/>
            </a:pPr>
            <a:r>
              <a:rPr lang="en-US" sz="1800" b="1" dirty="0">
                <a:solidFill>
                  <a:schemeClr val="tx2"/>
                </a:solidFill>
              </a:rPr>
              <a:t>[</a:t>
            </a:r>
            <a:r>
              <a:rPr lang="en-US" b="1" dirty="0">
                <a:solidFill>
                  <a:schemeClr val="tx2"/>
                </a:solidFill>
              </a:rPr>
              <a:t>DHARSHINI G</a:t>
            </a:r>
            <a:r>
              <a:rPr lang="en-US" sz="1800" b="1" dirty="0">
                <a:solidFill>
                  <a:schemeClr val="tx2"/>
                </a:solidFill>
              </a:rPr>
              <a:t>]  |  </a:t>
            </a:r>
            <a:r>
              <a:rPr lang="en-US" b="1" dirty="0">
                <a:solidFill>
                  <a:schemeClr val="tx2"/>
                </a:solidFill>
              </a:rPr>
              <a:t>[240701121</a:t>
            </a:r>
            <a:r>
              <a:rPr lang="en-US" sz="1800" b="1" dirty="0">
                <a:solidFill>
                  <a:schemeClr val="tx2"/>
                </a:solidFill>
              </a:rPr>
              <a:t>]</a:t>
            </a:r>
            <a:endParaRPr lang="en-US" sz="1800" dirty="0"/>
          </a:p>
        </p:txBody>
      </p:sp>
      <p:sp>
        <p:nvSpPr>
          <p:cNvPr id="10" name="Text 6"/>
          <p:cNvSpPr txBox="1"/>
          <p:nvPr/>
        </p:nvSpPr>
        <p:spPr>
          <a:xfrm>
            <a:off x="3485072" y="4230050"/>
            <a:ext cx="7304847" cy="1042416"/>
          </a:xfrm>
          <a:prstGeom prst="rect">
            <a:avLst/>
          </a:prstGeom>
          <a:noFill/>
          <a:ln/>
        </p:spPr>
        <p:txBody>
          <a:bodyPr wrap="square" lIns="0" tIns="0" rIns="0" bIns="0" rtlCol="0" anchor="ctr"/>
          <a:lstStyle/>
          <a:p>
            <a:pPr marL="0" indent="0">
              <a:buNone/>
            </a:pPr>
            <a:r>
              <a:rPr lang="en-US" sz="1300" dirty="0">
                <a:solidFill>
                  <a:schemeClr val="accent6"/>
                </a:solidFill>
              </a:rPr>
              <a:t>III YEAR – COMPUTER SCIENCE &amp; ENGINEERING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a:extLst>
              <a:ext uri="{FF2B5EF4-FFF2-40B4-BE49-F238E27FC236}">
                <a16:creationId xmlns:a16="http://schemas.microsoft.com/office/drawing/2014/main" id="{B18885A8-4A8A-95AC-F884-C569750B4D76}"/>
              </a:ext>
            </a:extLst>
          </p:cNvPr>
          <p:cNvSpPr/>
          <p:nvPr/>
        </p:nvSpPr>
        <p:spPr>
          <a:xfrm>
            <a:off x="709091" y="1350034"/>
            <a:ext cx="10908792" cy="54864"/>
          </a:xfrm>
          <a:prstGeom prst="rect">
            <a:avLst/>
          </a:prstGeom>
          <a:solidFill>
            <a:schemeClr val="accent1"/>
          </a:solidFill>
          <a:ln/>
        </p:spPr>
      </p:sp>
      <p:sp>
        <p:nvSpPr>
          <p:cNvPr id="5" name="TextBox 4">
            <a:extLst>
              <a:ext uri="{FF2B5EF4-FFF2-40B4-BE49-F238E27FC236}">
                <a16:creationId xmlns:a16="http://schemas.microsoft.com/office/drawing/2014/main" id="{F0BFAEFC-8AA0-F29D-DCA6-D4827B9E1241}"/>
              </a:ext>
            </a:extLst>
          </p:cNvPr>
          <p:cNvSpPr txBox="1"/>
          <p:nvPr/>
        </p:nvSpPr>
        <p:spPr>
          <a:xfrm>
            <a:off x="5402292" y="732877"/>
            <a:ext cx="6094562" cy="492443"/>
          </a:xfrm>
          <a:prstGeom prst="rect">
            <a:avLst/>
          </a:prstGeom>
          <a:noFill/>
        </p:spPr>
        <p:txBody>
          <a:bodyPr wrap="square">
            <a:spAutoFit/>
          </a:bodyPr>
          <a:lstStyle/>
          <a:p>
            <a:r>
              <a:rPr lang="en-US" sz="2600" b="1" dirty="0">
                <a:solidFill>
                  <a:schemeClr val="tx2"/>
                </a:solidFill>
              </a:rPr>
              <a:t>AIM</a:t>
            </a:r>
            <a:endParaRPr lang="en-IN" sz="1800" dirty="0"/>
          </a:p>
        </p:txBody>
      </p:sp>
      <p:sp>
        <p:nvSpPr>
          <p:cNvPr id="7" name="TextBox 6">
            <a:extLst>
              <a:ext uri="{FF2B5EF4-FFF2-40B4-BE49-F238E27FC236}">
                <a16:creationId xmlns:a16="http://schemas.microsoft.com/office/drawing/2014/main" id="{37A0CB60-1326-E36B-04A6-A6E8BD5A1E96}"/>
              </a:ext>
            </a:extLst>
          </p:cNvPr>
          <p:cNvSpPr txBox="1"/>
          <p:nvPr/>
        </p:nvSpPr>
        <p:spPr>
          <a:xfrm>
            <a:off x="709090" y="1674674"/>
            <a:ext cx="10908791" cy="1477328"/>
          </a:xfrm>
          <a:prstGeom prst="rect">
            <a:avLst/>
          </a:prstGeom>
          <a:noFill/>
        </p:spPr>
        <p:txBody>
          <a:bodyPr wrap="square">
            <a:spAutoFit/>
          </a:bodyPr>
          <a:lstStyle/>
          <a:p>
            <a:pPr algn="just">
              <a:buNone/>
            </a:pPr>
            <a:r>
              <a:rPr lang="en-IN" dirty="0"/>
              <a:t>To develop a Smart Hostel Complaint Management System that provides a simple and efficient platform for students to submit hostel complaints online. The system aims to help students track their complaints and receive status updates. It also helps administrators manage, prioritize, and resolve complaints through a centralized dashboard. The system uses modern web technologies and MySQL to securely store and manage student and complaint information.</a:t>
            </a:r>
          </a:p>
        </p:txBody>
      </p:sp>
    </p:spTree>
    <p:extLst>
      <p:ext uri="{BB962C8B-B14F-4D97-AF65-F5344CB8AC3E}">
        <p14:creationId xmlns:p14="http://schemas.microsoft.com/office/powerpoint/2010/main" val="1372084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a:extLst>
              <a:ext uri="{FF2B5EF4-FFF2-40B4-BE49-F238E27FC236}">
                <a16:creationId xmlns:a16="http://schemas.microsoft.com/office/drawing/2014/main" id="{26E26196-AC95-5EF4-1566-94E0B55EC265}"/>
              </a:ext>
            </a:extLst>
          </p:cNvPr>
          <p:cNvSpPr/>
          <p:nvPr/>
        </p:nvSpPr>
        <p:spPr>
          <a:xfrm>
            <a:off x="709091" y="1350034"/>
            <a:ext cx="10908792" cy="54864"/>
          </a:xfrm>
          <a:prstGeom prst="rect">
            <a:avLst/>
          </a:prstGeom>
          <a:solidFill>
            <a:schemeClr val="accent1"/>
          </a:solidFill>
          <a:ln/>
        </p:spPr>
      </p:sp>
      <p:sp>
        <p:nvSpPr>
          <p:cNvPr id="5" name="TextBox 4">
            <a:extLst>
              <a:ext uri="{FF2B5EF4-FFF2-40B4-BE49-F238E27FC236}">
                <a16:creationId xmlns:a16="http://schemas.microsoft.com/office/drawing/2014/main" id="{2E7A2945-985C-B93A-09E7-479DEE4F80A1}"/>
              </a:ext>
            </a:extLst>
          </p:cNvPr>
          <p:cNvSpPr txBox="1"/>
          <p:nvPr/>
        </p:nvSpPr>
        <p:spPr>
          <a:xfrm>
            <a:off x="4772564" y="698371"/>
            <a:ext cx="6094562" cy="492443"/>
          </a:xfrm>
          <a:prstGeom prst="rect">
            <a:avLst/>
          </a:prstGeom>
          <a:noFill/>
        </p:spPr>
        <p:txBody>
          <a:bodyPr wrap="square">
            <a:spAutoFit/>
          </a:bodyPr>
          <a:lstStyle/>
          <a:p>
            <a:r>
              <a:rPr lang="en-US" sz="2600" b="1" dirty="0">
                <a:solidFill>
                  <a:schemeClr val="tx2"/>
                </a:solidFill>
              </a:rPr>
              <a:t>OBJECTIVE</a:t>
            </a:r>
            <a:endParaRPr lang="en-IN" dirty="0"/>
          </a:p>
        </p:txBody>
      </p:sp>
      <p:sp>
        <p:nvSpPr>
          <p:cNvPr id="7" name="TextBox 6">
            <a:extLst>
              <a:ext uri="{FF2B5EF4-FFF2-40B4-BE49-F238E27FC236}">
                <a16:creationId xmlns:a16="http://schemas.microsoft.com/office/drawing/2014/main" id="{C9068D75-56FC-FE90-1FC3-06E2E91469E6}"/>
              </a:ext>
            </a:extLst>
          </p:cNvPr>
          <p:cNvSpPr txBox="1"/>
          <p:nvPr/>
        </p:nvSpPr>
        <p:spPr>
          <a:xfrm>
            <a:off x="709091" y="1720840"/>
            <a:ext cx="8432752" cy="1754326"/>
          </a:xfrm>
          <a:prstGeom prst="rect">
            <a:avLst/>
          </a:prstGeom>
          <a:noFill/>
        </p:spPr>
        <p:txBody>
          <a:bodyPr wrap="square">
            <a:spAutoFit/>
          </a:bodyPr>
          <a:lstStyle/>
          <a:p>
            <a:pPr marL="342900" lvl="0" indent="-342900">
              <a:buFont typeface="Arial" panose="020B0604020202020204" pitchFamily="34" charset="0"/>
              <a:buChar char="•"/>
            </a:pPr>
            <a:r>
              <a:rPr lang="en-IN" dirty="0"/>
              <a:t>To develop a simple and user-friendly hostel complaint management system.</a:t>
            </a:r>
          </a:p>
          <a:p>
            <a:pPr marL="342900" lvl="0" indent="-342900">
              <a:buFont typeface="Arial" panose="020B0604020202020204" pitchFamily="34" charset="0"/>
              <a:buChar char="•"/>
            </a:pPr>
            <a:r>
              <a:rPr lang="en-IN" dirty="0"/>
              <a:t>To allow students to submit and track complaints online.</a:t>
            </a:r>
          </a:p>
          <a:p>
            <a:pPr marL="342900" lvl="0" indent="-342900">
              <a:buFont typeface="Arial" panose="020B0604020202020204" pitchFamily="34" charset="0"/>
              <a:buChar char="•"/>
            </a:pPr>
            <a:r>
              <a:rPr lang="en-IN" dirty="0"/>
              <a:t>To help admins manage, prioritize, and resolve complaints efficiently.</a:t>
            </a:r>
          </a:p>
          <a:p>
            <a:pPr marL="342900" lvl="0" indent="-342900">
              <a:buFont typeface="Arial" panose="020B0604020202020204" pitchFamily="34" charset="0"/>
              <a:buChar char="•"/>
            </a:pPr>
            <a:r>
              <a:rPr lang="en-IN" dirty="0"/>
              <a:t>To securely store student and complaint details using MySQL.</a:t>
            </a:r>
          </a:p>
          <a:p>
            <a:pPr marL="342900" lvl="0" indent="-342900">
              <a:buFont typeface="Arial" panose="020B0604020202020204" pitchFamily="34" charset="0"/>
              <a:buChar char="•"/>
            </a:pPr>
            <a:r>
              <a:rPr lang="en-IN" dirty="0"/>
              <a:t>To provide dashboards, charts, and reports for better complaint management.</a:t>
            </a:r>
          </a:p>
          <a:p>
            <a:pPr marL="342900" lvl="0" indent="-342900">
              <a:buFont typeface="Arial" panose="020B0604020202020204" pitchFamily="34" charset="0"/>
              <a:buChar char="•"/>
            </a:pPr>
            <a:r>
              <a:rPr lang="en-IN" dirty="0"/>
              <a:t>To reduce manual work and improve the complaint resolution process.</a:t>
            </a:r>
          </a:p>
        </p:txBody>
      </p:sp>
    </p:spTree>
    <p:extLst>
      <p:ext uri="{BB962C8B-B14F-4D97-AF65-F5344CB8AC3E}">
        <p14:creationId xmlns:p14="http://schemas.microsoft.com/office/powerpoint/2010/main" val="35617985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4"/>
          <p:cNvSpPr>
            <a:spLocks noGrp="1"/>
          </p:cNvSpPr>
          <p:nvPr>
            <p:ph type="title" idx="104" hasCustomPrompt="1"/>
          </p:nvPr>
        </p:nvSpPr>
        <p:spPr>
          <a:xfrm>
            <a:off x="640080" y="274320"/>
            <a:ext cx="10908792" cy="548640"/>
          </a:xfrm>
          <a:prstGeom prst="rect">
            <a:avLst/>
          </a:prstGeom>
          <a:noFill/>
          <a:ln/>
        </p:spPr>
        <p:txBody>
          <a:bodyPr wrap="square" lIns="0" tIns="0" rIns="0" bIns="0" rtlCol="0" anchor="ctr"/>
          <a:lstStyle/>
          <a:p>
            <a:pPr marL="0" indent="0" algn="ctr">
              <a:buNone/>
            </a:pPr>
            <a:r>
              <a:rPr lang="en-US" sz="2600" b="1" dirty="0">
                <a:solidFill>
                  <a:schemeClr val="tx2"/>
                </a:solidFill>
              </a:rPr>
              <a:t>ABSTRACT</a:t>
            </a:r>
            <a:endParaRPr lang="en-US" sz="2600" dirty="0"/>
          </a:p>
        </p:txBody>
      </p:sp>
      <p:sp>
        <p:nvSpPr>
          <p:cNvPr id="3" name="Text 1"/>
          <p:cNvSpPr txBox="1"/>
          <p:nvPr/>
        </p:nvSpPr>
        <p:spPr>
          <a:xfrm>
            <a:off x="640080" y="1280160"/>
            <a:ext cx="10908792" cy="4754880"/>
          </a:xfrm>
          <a:prstGeom prst="rect">
            <a:avLst/>
          </a:prstGeom>
          <a:noFill/>
          <a:ln/>
        </p:spPr>
        <p:txBody>
          <a:bodyPr wrap="square" lIns="0" tIns="0" rIns="0" bIns="0" rtlCol="0" anchor="t"/>
          <a:lstStyle/>
          <a:p>
            <a:pPr algn="just"/>
            <a:r>
              <a:rPr lang="en-IN" dirty="0"/>
              <a:t>The Smart Hostel Complaint Management System is a web application developed using different web technologies to manage hostel complaints digitally.</a:t>
            </a:r>
          </a:p>
          <a:p>
            <a:pPr algn="just"/>
            <a:r>
              <a:rPr lang="en-IN" b="1" dirty="0"/>
              <a:t>HTML5</a:t>
            </a:r>
            <a:r>
              <a:rPr lang="en-IN" dirty="0"/>
              <a:t> is used to create the structure of web pages and forms. CSS3 is used to design the user interface and make the application responsive on different screen sizes. Vanilla JavaScript is used for client-side validation, DOM manipulation, events, search, filters, pagination, and dynamic user interactions. </a:t>
            </a:r>
          </a:p>
          <a:p>
            <a:pPr algn="just"/>
            <a:r>
              <a:rPr lang="en-IN" b="1" dirty="0"/>
              <a:t>EJS</a:t>
            </a:r>
            <a:r>
              <a:rPr lang="en-IN" dirty="0"/>
              <a:t> is used for creating dynamic server-side web pages.</a:t>
            </a:r>
          </a:p>
          <a:p>
            <a:pPr algn="just"/>
            <a:r>
              <a:rPr lang="en-IN" b="1" dirty="0"/>
              <a:t>Node.js</a:t>
            </a:r>
            <a:r>
              <a:rPr lang="en-IN" dirty="0"/>
              <a:t> is used as the server-side runtime environment, while Express.js is used to handle server requests, routing, controllers, and application logic. MySQL is used to store student, admin, complaint, and complaint history data. The </a:t>
            </a:r>
            <a:r>
              <a:rPr lang="en-IN" b="1" dirty="0"/>
              <a:t>mysql2</a:t>
            </a:r>
            <a:r>
              <a:rPr lang="en-IN" dirty="0"/>
              <a:t> module is used to connect the Node.js application with the MySQL database.</a:t>
            </a:r>
          </a:p>
          <a:p>
            <a:pPr algn="just"/>
            <a:r>
              <a:rPr lang="en-IN" b="1" dirty="0"/>
              <a:t>Express Session</a:t>
            </a:r>
            <a:r>
              <a:rPr lang="en-IN" dirty="0"/>
              <a:t> is used to manage user login sessions and protect different user roles.</a:t>
            </a:r>
            <a:r>
              <a:rPr lang="en-IN" b="1" dirty="0"/>
              <a:t> </a:t>
            </a:r>
          </a:p>
          <a:p>
            <a:pPr algn="just"/>
            <a:r>
              <a:rPr lang="en-IN" b="1" dirty="0" err="1"/>
              <a:t>bcryptjs</a:t>
            </a:r>
            <a:r>
              <a:rPr lang="en-IN" b="1" dirty="0"/>
              <a:t> </a:t>
            </a:r>
            <a:r>
              <a:rPr lang="en-IN" dirty="0"/>
              <a:t>is used to securely hash passwords before storing them in the database. </a:t>
            </a:r>
          </a:p>
          <a:p>
            <a:pPr algn="just"/>
            <a:r>
              <a:rPr lang="en-IN" b="1" dirty="0"/>
              <a:t>Chart.js</a:t>
            </a:r>
            <a:r>
              <a:rPr lang="en-IN" dirty="0"/>
              <a:t> is used to display complaint statistics and dashboard charts.</a:t>
            </a:r>
          </a:p>
          <a:p>
            <a:pPr algn="just"/>
            <a:r>
              <a:rPr lang="en-IN" dirty="0"/>
              <a:t>These technologies work together to create a responsive, secure, and database-connected web application for hostel complaint management. </a:t>
            </a:r>
          </a:p>
          <a:p>
            <a:pPr marL="0" indent="0">
              <a:spcAft>
                <a:spcPts val="1200"/>
              </a:spcAft>
              <a:buNone/>
            </a:pPr>
            <a:endParaRPr lang="en-US" sz="1500" dirty="0"/>
          </a:p>
        </p:txBody>
      </p:sp>
      <p:sp>
        <p:nvSpPr>
          <p:cNvPr id="25" name="Slide Number Placeholder 0"/>
          <p:cNvSpPr>
            <a:spLocks noGrp="1"/>
          </p:cNvSpPr>
          <p:nvPr>
            <p:ph type="sldNum" sz="quarter" idx="4294967295"/>
          </p:nvPr>
        </p:nvSpPr>
        <p:spPr>
          <a:xfrm>
            <a:off x="10789920" y="6400800"/>
            <a:ext cx="758952" cy="32004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1"/>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4"/>
          <p:cNvSpPr>
            <a:spLocks noGrp="1"/>
          </p:cNvSpPr>
          <p:nvPr>
            <p:ph type="title" idx="104" hasCustomPrompt="1"/>
          </p:nvPr>
        </p:nvSpPr>
        <p:spPr>
          <a:xfrm>
            <a:off x="640080" y="274320"/>
            <a:ext cx="10908792" cy="548640"/>
          </a:xfrm>
          <a:prstGeom prst="rect">
            <a:avLst/>
          </a:prstGeom>
          <a:noFill/>
          <a:ln/>
        </p:spPr>
        <p:txBody>
          <a:bodyPr wrap="square" lIns="0" tIns="0" rIns="0" bIns="0" rtlCol="0" anchor="ctr"/>
          <a:lstStyle/>
          <a:p>
            <a:pPr marL="0" indent="0" algn="ctr">
              <a:buNone/>
            </a:pPr>
            <a:r>
              <a:rPr lang="en-US" sz="2600" b="1" dirty="0">
                <a:solidFill>
                  <a:schemeClr val="tx2"/>
                </a:solidFill>
              </a:rPr>
              <a:t>PROJECT OBJECTIVES</a:t>
            </a:r>
            <a:endParaRPr lang="en-US" sz="2600" dirty="0"/>
          </a:p>
        </p:txBody>
      </p:sp>
      <p:sp>
        <p:nvSpPr>
          <p:cNvPr id="3" name="Shape 1"/>
          <p:cNvSpPr/>
          <p:nvPr/>
        </p:nvSpPr>
        <p:spPr>
          <a:xfrm>
            <a:off x="640080" y="1371600"/>
            <a:ext cx="3502152" cy="2103120"/>
          </a:xfrm>
          <a:prstGeom prst="rect">
            <a:avLst/>
          </a:prstGeom>
          <a:solidFill>
            <a:schemeClr val="bg1"/>
          </a:solidFill>
          <a:ln w="9525">
            <a:solidFill>
              <a:srgbClr val="E5E7EB"/>
            </a:solidFill>
            <a:prstDash val="solid"/>
          </a:ln>
          <a:effectLst>
            <a:outerShdw blurRad="76200" dist="25400" dir="5400000" algn="bl" rotWithShape="0">
              <a:srgbClr val="000000">
                <a:alpha val="15000"/>
              </a:srgbClr>
            </a:outerShdw>
          </a:effectLst>
        </p:spPr>
      </p:sp>
      <p:sp>
        <p:nvSpPr>
          <p:cNvPr id="4" name="Shape 2"/>
          <p:cNvSpPr/>
          <p:nvPr/>
        </p:nvSpPr>
        <p:spPr>
          <a:xfrm>
            <a:off x="640080" y="1371600"/>
            <a:ext cx="82296" cy="2103120"/>
          </a:xfrm>
          <a:prstGeom prst="rect">
            <a:avLst/>
          </a:prstGeom>
          <a:solidFill>
            <a:schemeClr val="accent1"/>
          </a:solidFill>
          <a:ln w="12700">
            <a:solidFill>
              <a:schemeClr val="accent1"/>
            </a:solidFill>
            <a:prstDash val="solid"/>
          </a:ln>
        </p:spPr>
      </p:sp>
      <p:sp>
        <p:nvSpPr>
          <p:cNvPr id="5" name="Text 3"/>
          <p:cNvSpPr txBox="1"/>
          <p:nvPr/>
        </p:nvSpPr>
        <p:spPr>
          <a:xfrm>
            <a:off x="868680" y="1463040"/>
            <a:ext cx="3136392" cy="685800"/>
          </a:xfrm>
          <a:prstGeom prst="rect">
            <a:avLst/>
          </a:prstGeom>
          <a:noFill/>
          <a:ln/>
        </p:spPr>
        <p:txBody>
          <a:bodyPr wrap="square" lIns="0" tIns="0" rIns="0" bIns="0" rtlCol="0" anchor="ctr"/>
          <a:lstStyle/>
          <a:p>
            <a:pPr marL="0" indent="0">
              <a:buNone/>
            </a:pPr>
            <a:r>
              <a:rPr lang="en-US" sz="1600" b="1" dirty="0">
                <a:solidFill>
                  <a:schemeClr val="tx2"/>
                </a:solidFill>
              </a:rPr>
              <a:t>1. Build an interactive web application</a:t>
            </a:r>
            <a:endParaRPr lang="en-US" sz="1600" dirty="0"/>
          </a:p>
        </p:txBody>
      </p:sp>
      <p:sp>
        <p:nvSpPr>
          <p:cNvPr id="6" name="Text 4"/>
          <p:cNvSpPr txBox="1"/>
          <p:nvPr/>
        </p:nvSpPr>
        <p:spPr>
          <a:xfrm>
            <a:off x="868680" y="2240280"/>
            <a:ext cx="3136392" cy="1143000"/>
          </a:xfrm>
          <a:prstGeom prst="rect">
            <a:avLst/>
          </a:prstGeom>
          <a:noFill/>
          <a:ln/>
        </p:spPr>
        <p:txBody>
          <a:bodyPr wrap="square" lIns="0" tIns="0" rIns="0" bIns="0" rtlCol="0" anchor="t"/>
          <a:lstStyle/>
          <a:p>
            <a:pPr marL="0" indent="0">
              <a:buNone/>
            </a:pPr>
            <a:r>
              <a:rPr lang="en-US" sz="1400" dirty="0">
                <a:solidFill>
                  <a:schemeClr val="tx1"/>
                </a:solidFill>
              </a:rPr>
              <a:t>Create a responsive interface using HTML5, CSS3 and vanilla JavaScript.</a:t>
            </a:r>
            <a:endParaRPr lang="en-US" sz="1400" dirty="0"/>
          </a:p>
        </p:txBody>
      </p:sp>
      <p:sp>
        <p:nvSpPr>
          <p:cNvPr id="7" name="Shape 5"/>
          <p:cNvSpPr/>
          <p:nvPr/>
        </p:nvSpPr>
        <p:spPr>
          <a:xfrm>
            <a:off x="4343400" y="1371600"/>
            <a:ext cx="3502152" cy="2103120"/>
          </a:xfrm>
          <a:prstGeom prst="rect">
            <a:avLst/>
          </a:prstGeom>
          <a:solidFill>
            <a:schemeClr val="bg1"/>
          </a:solidFill>
          <a:ln w="9525">
            <a:solidFill>
              <a:srgbClr val="E5E7EB"/>
            </a:solidFill>
            <a:prstDash val="solid"/>
          </a:ln>
          <a:effectLst>
            <a:outerShdw blurRad="76200" dist="25400" dir="5400000" algn="bl" rotWithShape="0">
              <a:srgbClr val="000000">
                <a:alpha val="15000"/>
              </a:srgbClr>
            </a:outerShdw>
          </a:effectLst>
        </p:spPr>
      </p:sp>
      <p:sp>
        <p:nvSpPr>
          <p:cNvPr id="8" name="Shape 6"/>
          <p:cNvSpPr/>
          <p:nvPr/>
        </p:nvSpPr>
        <p:spPr>
          <a:xfrm>
            <a:off x="4343400" y="1371600"/>
            <a:ext cx="82296" cy="2103120"/>
          </a:xfrm>
          <a:prstGeom prst="rect">
            <a:avLst/>
          </a:prstGeom>
          <a:solidFill>
            <a:schemeClr val="accent2"/>
          </a:solidFill>
          <a:ln w="12700">
            <a:solidFill>
              <a:schemeClr val="accent2"/>
            </a:solidFill>
            <a:prstDash val="solid"/>
          </a:ln>
        </p:spPr>
      </p:sp>
      <p:sp>
        <p:nvSpPr>
          <p:cNvPr id="9" name="Text 7"/>
          <p:cNvSpPr txBox="1"/>
          <p:nvPr/>
        </p:nvSpPr>
        <p:spPr>
          <a:xfrm>
            <a:off x="4572000" y="1463040"/>
            <a:ext cx="3136392" cy="685800"/>
          </a:xfrm>
          <a:prstGeom prst="rect">
            <a:avLst/>
          </a:prstGeom>
          <a:noFill/>
          <a:ln/>
        </p:spPr>
        <p:txBody>
          <a:bodyPr wrap="square" lIns="0" tIns="0" rIns="0" bIns="0" rtlCol="0" anchor="ctr"/>
          <a:lstStyle/>
          <a:p>
            <a:pPr marL="0" indent="0">
              <a:buNone/>
            </a:pPr>
            <a:r>
              <a:rPr lang="en-US" sz="1600" b="1" dirty="0">
                <a:solidFill>
                  <a:schemeClr val="tx2"/>
                </a:solidFill>
              </a:rPr>
              <a:t>2. Support multiple user roles</a:t>
            </a:r>
            <a:endParaRPr lang="en-US" sz="1600" dirty="0"/>
          </a:p>
        </p:txBody>
      </p:sp>
      <p:sp>
        <p:nvSpPr>
          <p:cNvPr id="10" name="Text 8"/>
          <p:cNvSpPr txBox="1"/>
          <p:nvPr/>
        </p:nvSpPr>
        <p:spPr>
          <a:xfrm>
            <a:off x="4572000" y="2240280"/>
            <a:ext cx="3136392" cy="1143000"/>
          </a:xfrm>
          <a:prstGeom prst="rect">
            <a:avLst/>
          </a:prstGeom>
          <a:noFill/>
          <a:ln/>
        </p:spPr>
        <p:txBody>
          <a:bodyPr wrap="square" lIns="0" tIns="0" rIns="0" bIns="0" rtlCol="0" anchor="t"/>
          <a:lstStyle/>
          <a:p>
            <a:pPr marL="0" indent="0">
              <a:buNone/>
            </a:pPr>
            <a:r>
              <a:rPr lang="en-US" sz="1400" dirty="0">
                <a:solidFill>
                  <a:schemeClr val="tx1"/>
                </a:solidFill>
              </a:rPr>
              <a:t>Provide dedicated portals for students, admins and the super admin.</a:t>
            </a:r>
            <a:endParaRPr lang="en-US" sz="1400" dirty="0"/>
          </a:p>
        </p:txBody>
      </p:sp>
      <p:sp>
        <p:nvSpPr>
          <p:cNvPr id="11" name="Shape 9"/>
          <p:cNvSpPr/>
          <p:nvPr/>
        </p:nvSpPr>
        <p:spPr>
          <a:xfrm>
            <a:off x="8046720" y="1371600"/>
            <a:ext cx="3502152" cy="2103120"/>
          </a:xfrm>
          <a:prstGeom prst="rect">
            <a:avLst/>
          </a:prstGeom>
          <a:solidFill>
            <a:schemeClr val="bg1"/>
          </a:solidFill>
          <a:ln w="9525">
            <a:solidFill>
              <a:srgbClr val="E5E7EB"/>
            </a:solidFill>
            <a:prstDash val="solid"/>
          </a:ln>
          <a:effectLst>
            <a:outerShdw blurRad="76200" dist="25400" dir="5400000" algn="bl" rotWithShape="0">
              <a:srgbClr val="000000">
                <a:alpha val="15000"/>
              </a:srgbClr>
            </a:outerShdw>
          </a:effectLst>
        </p:spPr>
      </p:sp>
      <p:sp>
        <p:nvSpPr>
          <p:cNvPr id="12" name="Shape 10"/>
          <p:cNvSpPr/>
          <p:nvPr/>
        </p:nvSpPr>
        <p:spPr>
          <a:xfrm>
            <a:off x="8046720" y="1371600"/>
            <a:ext cx="82296" cy="2103120"/>
          </a:xfrm>
          <a:prstGeom prst="rect">
            <a:avLst/>
          </a:prstGeom>
          <a:solidFill>
            <a:schemeClr val="accent4"/>
          </a:solidFill>
          <a:ln w="12700">
            <a:solidFill>
              <a:schemeClr val="accent4"/>
            </a:solidFill>
            <a:prstDash val="solid"/>
          </a:ln>
        </p:spPr>
      </p:sp>
      <p:sp>
        <p:nvSpPr>
          <p:cNvPr id="13" name="Text 11"/>
          <p:cNvSpPr txBox="1"/>
          <p:nvPr/>
        </p:nvSpPr>
        <p:spPr>
          <a:xfrm>
            <a:off x="8275320" y="1463040"/>
            <a:ext cx="3136392" cy="685800"/>
          </a:xfrm>
          <a:prstGeom prst="rect">
            <a:avLst/>
          </a:prstGeom>
          <a:noFill/>
          <a:ln/>
        </p:spPr>
        <p:txBody>
          <a:bodyPr wrap="square" lIns="0" tIns="0" rIns="0" bIns="0" rtlCol="0" anchor="ctr"/>
          <a:lstStyle/>
          <a:p>
            <a:pPr marL="0" indent="0">
              <a:buNone/>
            </a:pPr>
            <a:r>
              <a:rPr lang="en-US" sz="1600" b="1" dirty="0">
                <a:solidFill>
                  <a:schemeClr val="tx2"/>
                </a:solidFill>
              </a:rPr>
              <a:t>3. Apply Web Programming concepts</a:t>
            </a:r>
            <a:endParaRPr lang="en-US" sz="1600" dirty="0"/>
          </a:p>
        </p:txBody>
      </p:sp>
      <p:sp>
        <p:nvSpPr>
          <p:cNvPr id="14" name="Text 12"/>
          <p:cNvSpPr txBox="1"/>
          <p:nvPr/>
        </p:nvSpPr>
        <p:spPr>
          <a:xfrm>
            <a:off x="8275320" y="2240280"/>
            <a:ext cx="3136392" cy="1143000"/>
          </a:xfrm>
          <a:prstGeom prst="rect">
            <a:avLst/>
          </a:prstGeom>
          <a:noFill/>
          <a:ln/>
        </p:spPr>
        <p:txBody>
          <a:bodyPr wrap="square" lIns="0" tIns="0" rIns="0" bIns="0" rtlCol="0" anchor="t"/>
          <a:lstStyle/>
          <a:p>
            <a:pPr marL="0" indent="0">
              <a:buNone/>
            </a:pPr>
            <a:r>
              <a:rPr lang="en-US" sz="1400" dirty="0">
                <a:solidFill>
                  <a:schemeClr val="tx1"/>
                </a:solidFill>
              </a:rPr>
              <a:t>Use forms, DOM manipulation, events, validation and responsive CSS.</a:t>
            </a:r>
            <a:endParaRPr lang="en-US" sz="1400" dirty="0"/>
          </a:p>
        </p:txBody>
      </p:sp>
      <p:sp>
        <p:nvSpPr>
          <p:cNvPr id="15" name="Shape 13"/>
          <p:cNvSpPr/>
          <p:nvPr/>
        </p:nvSpPr>
        <p:spPr>
          <a:xfrm>
            <a:off x="2487168" y="3749040"/>
            <a:ext cx="3502152" cy="2103120"/>
          </a:xfrm>
          <a:prstGeom prst="rect">
            <a:avLst/>
          </a:prstGeom>
          <a:solidFill>
            <a:schemeClr val="bg1"/>
          </a:solidFill>
          <a:ln w="9525">
            <a:solidFill>
              <a:srgbClr val="E5E7EB"/>
            </a:solidFill>
            <a:prstDash val="solid"/>
          </a:ln>
          <a:effectLst>
            <a:outerShdw blurRad="76200" dist="25400" dir="5400000" algn="bl" rotWithShape="0">
              <a:srgbClr val="000000">
                <a:alpha val="15000"/>
              </a:srgbClr>
            </a:outerShdw>
          </a:effectLst>
        </p:spPr>
      </p:sp>
      <p:sp>
        <p:nvSpPr>
          <p:cNvPr id="16" name="Shape 14"/>
          <p:cNvSpPr/>
          <p:nvPr/>
        </p:nvSpPr>
        <p:spPr>
          <a:xfrm>
            <a:off x="2487168" y="3749040"/>
            <a:ext cx="82296" cy="2103120"/>
          </a:xfrm>
          <a:prstGeom prst="rect">
            <a:avLst/>
          </a:prstGeom>
          <a:solidFill>
            <a:schemeClr val="accent3"/>
          </a:solidFill>
          <a:ln w="12700">
            <a:solidFill>
              <a:schemeClr val="accent3"/>
            </a:solidFill>
            <a:prstDash val="solid"/>
          </a:ln>
        </p:spPr>
      </p:sp>
      <p:sp>
        <p:nvSpPr>
          <p:cNvPr id="17" name="Text 15"/>
          <p:cNvSpPr txBox="1"/>
          <p:nvPr/>
        </p:nvSpPr>
        <p:spPr>
          <a:xfrm>
            <a:off x="2715768" y="3840480"/>
            <a:ext cx="3136392" cy="685800"/>
          </a:xfrm>
          <a:prstGeom prst="rect">
            <a:avLst/>
          </a:prstGeom>
          <a:noFill/>
          <a:ln/>
        </p:spPr>
        <p:txBody>
          <a:bodyPr wrap="square" lIns="0" tIns="0" rIns="0" bIns="0" rtlCol="0" anchor="ctr"/>
          <a:lstStyle/>
          <a:p>
            <a:pPr marL="0" indent="0">
              <a:buNone/>
            </a:pPr>
            <a:r>
              <a:rPr lang="en-US" sz="1600" b="1" dirty="0">
                <a:solidFill>
                  <a:schemeClr val="tx2"/>
                </a:solidFill>
              </a:rPr>
              <a:t>4. Centralize complaint workflows</a:t>
            </a:r>
            <a:endParaRPr lang="en-US" sz="1600" dirty="0"/>
          </a:p>
        </p:txBody>
      </p:sp>
      <p:sp>
        <p:nvSpPr>
          <p:cNvPr id="18" name="Text 16"/>
          <p:cNvSpPr txBox="1"/>
          <p:nvPr/>
        </p:nvSpPr>
        <p:spPr>
          <a:xfrm>
            <a:off x="2715768" y="4617720"/>
            <a:ext cx="3136392" cy="1143000"/>
          </a:xfrm>
          <a:prstGeom prst="rect">
            <a:avLst/>
          </a:prstGeom>
          <a:noFill/>
          <a:ln/>
        </p:spPr>
        <p:txBody>
          <a:bodyPr wrap="square" lIns="0" tIns="0" rIns="0" bIns="0" rtlCol="0" anchor="t"/>
          <a:lstStyle/>
          <a:p>
            <a:pPr marL="0" indent="0">
              <a:buNone/>
            </a:pPr>
            <a:r>
              <a:rPr lang="en-US" sz="1400" dirty="0">
                <a:solidFill>
                  <a:schemeClr val="tx1"/>
                </a:solidFill>
              </a:rPr>
              <a:t>Submit, track, prioritise and resolve hostel complaints with remarks.</a:t>
            </a:r>
            <a:endParaRPr lang="en-US" sz="1400" dirty="0"/>
          </a:p>
        </p:txBody>
      </p:sp>
      <p:sp>
        <p:nvSpPr>
          <p:cNvPr id="19" name="Shape 17"/>
          <p:cNvSpPr/>
          <p:nvPr/>
        </p:nvSpPr>
        <p:spPr>
          <a:xfrm>
            <a:off x="6190488" y="3749040"/>
            <a:ext cx="3502152" cy="2103120"/>
          </a:xfrm>
          <a:prstGeom prst="rect">
            <a:avLst/>
          </a:prstGeom>
          <a:solidFill>
            <a:schemeClr val="bg1"/>
          </a:solidFill>
          <a:ln w="9525">
            <a:solidFill>
              <a:srgbClr val="E5E7EB"/>
            </a:solidFill>
            <a:prstDash val="solid"/>
          </a:ln>
          <a:effectLst>
            <a:outerShdw blurRad="76200" dist="25400" dir="5400000" algn="bl" rotWithShape="0">
              <a:srgbClr val="000000">
                <a:alpha val="15000"/>
              </a:srgbClr>
            </a:outerShdw>
          </a:effectLst>
        </p:spPr>
      </p:sp>
      <p:sp>
        <p:nvSpPr>
          <p:cNvPr id="20" name="Shape 18"/>
          <p:cNvSpPr/>
          <p:nvPr/>
        </p:nvSpPr>
        <p:spPr>
          <a:xfrm>
            <a:off x="6190488" y="3749040"/>
            <a:ext cx="82296" cy="2103120"/>
          </a:xfrm>
          <a:prstGeom prst="rect">
            <a:avLst/>
          </a:prstGeom>
          <a:solidFill>
            <a:schemeClr val="accent1"/>
          </a:solidFill>
          <a:ln w="12700">
            <a:solidFill>
              <a:schemeClr val="accent1"/>
            </a:solidFill>
            <a:prstDash val="solid"/>
          </a:ln>
        </p:spPr>
      </p:sp>
      <p:sp>
        <p:nvSpPr>
          <p:cNvPr id="21" name="Text 19"/>
          <p:cNvSpPr txBox="1"/>
          <p:nvPr/>
        </p:nvSpPr>
        <p:spPr>
          <a:xfrm>
            <a:off x="6419088" y="3840480"/>
            <a:ext cx="3136392" cy="685800"/>
          </a:xfrm>
          <a:prstGeom prst="rect">
            <a:avLst/>
          </a:prstGeom>
          <a:noFill/>
          <a:ln/>
        </p:spPr>
        <p:txBody>
          <a:bodyPr wrap="square" lIns="0" tIns="0" rIns="0" bIns="0" rtlCol="0" anchor="ctr"/>
          <a:lstStyle/>
          <a:p>
            <a:pPr marL="0" indent="0">
              <a:buNone/>
            </a:pPr>
            <a:r>
              <a:rPr lang="en-US" sz="1600" b="1" dirty="0">
                <a:solidFill>
                  <a:schemeClr val="tx2"/>
                </a:solidFill>
              </a:rPr>
              <a:t>5. Demonstrate a complete system</a:t>
            </a:r>
            <a:endParaRPr lang="en-US" sz="1600" dirty="0"/>
          </a:p>
        </p:txBody>
      </p:sp>
      <p:sp>
        <p:nvSpPr>
          <p:cNvPr id="22" name="Text 20"/>
          <p:cNvSpPr txBox="1"/>
          <p:nvPr/>
        </p:nvSpPr>
        <p:spPr>
          <a:xfrm>
            <a:off x="6419088" y="4617720"/>
            <a:ext cx="3136392" cy="1143000"/>
          </a:xfrm>
          <a:prstGeom prst="rect">
            <a:avLst/>
          </a:prstGeom>
          <a:noFill/>
          <a:ln/>
        </p:spPr>
        <p:txBody>
          <a:bodyPr wrap="square" lIns="0" tIns="0" rIns="0" bIns="0" rtlCol="0" anchor="t"/>
          <a:lstStyle/>
          <a:p>
            <a:pPr marL="0" indent="0">
              <a:buNone/>
            </a:pPr>
            <a:r>
              <a:rPr lang="en-US" sz="1400" dirty="0">
                <a:solidFill>
                  <a:schemeClr val="tx1"/>
                </a:solidFill>
              </a:rPr>
              <a:t>Connect the frontend to Node.js/Express and a MySQL database.</a:t>
            </a:r>
            <a:endParaRPr lang="en-US" sz="1400" dirty="0"/>
          </a:p>
        </p:txBody>
      </p:sp>
      <p:sp>
        <p:nvSpPr>
          <p:cNvPr id="25" name="Slide Number Placeholder 0"/>
          <p:cNvSpPr>
            <a:spLocks noGrp="1"/>
          </p:cNvSpPr>
          <p:nvPr>
            <p:ph type="sldNum" sz="quarter" idx="4294967295"/>
          </p:nvPr>
        </p:nvSpPr>
        <p:spPr>
          <a:xfrm>
            <a:off x="10789920" y="6400800"/>
            <a:ext cx="758952" cy="32004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1"/>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4"/>
          <p:cNvSpPr>
            <a:spLocks noGrp="1"/>
          </p:cNvSpPr>
          <p:nvPr>
            <p:ph type="title" idx="104" hasCustomPrompt="1"/>
          </p:nvPr>
        </p:nvSpPr>
        <p:spPr>
          <a:xfrm>
            <a:off x="640080" y="274320"/>
            <a:ext cx="10908792" cy="548640"/>
          </a:xfrm>
          <a:prstGeom prst="rect">
            <a:avLst/>
          </a:prstGeom>
          <a:noFill/>
          <a:ln/>
        </p:spPr>
        <p:txBody>
          <a:bodyPr wrap="square" lIns="0" tIns="0" rIns="0" bIns="0" rtlCol="0" anchor="ctr"/>
          <a:lstStyle/>
          <a:p>
            <a:pPr marL="0" indent="0" algn="ctr">
              <a:buNone/>
            </a:pPr>
            <a:r>
              <a:rPr lang="en-US" sz="2600" b="1" dirty="0">
                <a:solidFill>
                  <a:schemeClr val="tx2"/>
                </a:solidFill>
              </a:rPr>
              <a:t>PROBLEM STATEMENT</a:t>
            </a:r>
            <a:endParaRPr lang="en-US" sz="2600" dirty="0"/>
          </a:p>
        </p:txBody>
      </p:sp>
      <p:sp>
        <p:nvSpPr>
          <p:cNvPr id="3" name="Text 1"/>
          <p:cNvSpPr txBox="1"/>
          <p:nvPr/>
        </p:nvSpPr>
        <p:spPr>
          <a:xfrm>
            <a:off x="640080" y="1234440"/>
            <a:ext cx="8383150" cy="731520"/>
          </a:xfrm>
          <a:prstGeom prst="rect">
            <a:avLst/>
          </a:prstGeom>
          <a:noFill/>
          <a:ln/>
        </p:spPr>
        <p:txBody>
          <a:bodyPr wrap="square" lIns="0" tIns="0" rIns="0" bIns="0" rtlCol="0" anchor="t"/>
          <a:lstStyle/>
          <a:p>
            <a:pPr marL="0" indent="0">
              <a:buNone/>
            </a:pPr>
            <a:r>
              <a:rPr lang="en-US" sz="2000" b="1" dirty="0">
                <a:solidFill>
                  <a:schemeClr val="tx2"/>
                </a:solidFill>
              </a:rPr>
              <a:t>Hostel complaint handling is manual and scattered</a:t>
            </a:r>
            <a:endParaRPr lang="en-US" sz="2000" dirty="0"/>
          </a:p>
        </p:txBody>
      </p:sp>
      <p:sp>
        <p:nvSpPr>
          <p:cNvPr id="4" name="Text 2"/>
          <p:cNvSpPr txBox="1"/>
          <p:nvPr/>
        </p:nvSpPr>
        <p:spPr>
          <a:xfrm>
            <a:off x="640080" y="2011680"/>
            <a:ext cx="10908792" cy="3566160"/>
          </a:xfrm>
          <a:prstGeom prst="rect">
            <a:avLst/>
          </a:prstGeom>
          <a:noFill/>
          <a:ln/>
        </p:spPr>
        <p:txBody>
          <a:bodyPr wrap="square" lIns="0" tIns="0" rIns="0" bIns="0" rtlCol="0" anchor="t"/>
          <a:lstStyle/>
          <a:p>
            <a:pPr marL="285750" indent="-285750" algn="just">
              <a:spcAft>
                <a:spcPts val="600"/>
              </a:spcAft>
              <a:buSzPct val="100000"/>
              <a:buFont typeface="Arial" panose="020B0604020202020204" pitchFamily="34" charset="0"/>
              <a:buChar char="•"/>
            </a:pPr>
            <a:r>
              <a:rPr lang="en-US" dirty="0">
                <a:solidFill>
                  <a:schemeClr val="tx1"/>
                </a:solidFill>
              </a:rPr>
              <a:t>Students rely on paper registers, verbal requests or messages to report issues like water, electricity, cleaning and Wi-Fi.</a:t>
            </a:r>
            <a:endParaRPr lang="en-US" dirty="0"/>
          </a:p>
          <a:p>
            <a:pPr marL="285750" indent="-285750" algn="just">
              <a:spcAft>
                <a:spcPts val="600"/>
              </a:spcAft>
              <a:buSzPct val="100000"/>
              <a:buFont typeface="Arial" panose="020B0604020202020204" pitchFamily="34" charset="0"/>
              <a:buChar char="•"/>
            </a:pPr>
            <a:r>
              <a:rPr lang="en-US" dirty="0">
                <a:solidFill>
                  <a:schemeClr val="tx1"/>
                </a:solidFill>
              </a:rPr>
              <a:t>Wardens and admins have no single place to view, prioritise and assign complaints.</a:t>
            </a:r>
            <a:endParaRPr lang="en-US" dirty="0"/>
          </a:p>
          <a:p>
            <a:pPr marL="285750" indent="-285750">
              <a:spcAft>
                <a:spcPts val="600"/>
              </a:spcAft>
              <a:buSzPct val="100000"/>
              <a:buFont typeface="Arial" panose="020B0604020202020204" pitchFamily="34" charset="0"/>
              <a:buChar char="•"/>
            </a:pPr>
            <a:r>
              <a:rPr lang="en-US" dirty="0">
                <a:solidFill>
                  <a:schemeClr val="tx1"/>
                </a:solidFill>
              </a:rPr>
              <a:t>Students cannot easily track the status of their complaint or see the admin's remarks.</a:t>
            </a:r>
            <a:endParaRPr lang="en-US" dirty="0"/>
          </a:p>
          <a:p>
            <a:pPr marL="285750" indent="-285750" algn="just">
              <a:spcAft>
                <a:spcPts val="600"/>
              </a:spcAft>
              <a:buSzPct val="100000"/>
              <a:buFont typeface="Arial" panose="020B0604020202020204" pitchFamily="34" charset="0"/>
              <a:buChar char="•"/>
            </a:pPr>
            <a:r>
              <a:rPr lang="en-US" dirty="0">
                <a:solidFill>
                  <a:schemeClr val="tx1"/>
                </a:solidFill>
              </a:rPr>
              <a:t>Reports and statistics on complaint trends are hard to produce.</a:t>
            </a:r>
          </a:p>
          <a:p>
            <a:pPr marL="285750" lvl="0" indent="-285750" algn="just">
              <a:buFont typeface="Arial" panose="020B0604020202020204" pitchFamily="34" charset="0"/>
              <a:buChar char="•"/>
            </a:pPr>
            <a:r>
              <a:rPr lang="en-IN" dirty="0"/>
              <a:t>No accountability or transparency</a:t>
            </a:r>
            <a:r>
              <a:rPr lang="en-IN" b="1" dirty="0"/>
              <a:t>:</a:t>
            </a:r>
            <a:r>
              <a:rPr lang="en-IN" dirty="0"/>
              <a:t> there is no record of who handled a complaint or how long it took, so students often have  to follow up repeatedly.</a:t>
            </a:r>
          </a:p>
          <a:p>
            <a:pPr marL="285750" lvl="0" indent="-285750" algn="just">
              <a:buFont typeface="Arial" panose="020B0604020202020204" pitchFamily="34" charset="0"/>
              <a:buChar char="•"/>
            </a:pPr>
            <a:r>
              <a:rPr lang="en-IN" dirty="0"/>
              <a:t>No priority system</a:t>
            </a:r>
            <a:r>
              <a:rPr lang="en-IN" b="1" dirty="0"/>
              <a:t>:</a:t>
            </a:r>
            <a:r>
              <a:rPr lang="en-IN" dirty="0"/>
              <a:t> urgent problems such as water leakage, electrical faults or safety issues get mixed in with minor ones, so critical complaints are delayed.</a:t>
            </a:r>
          </a:p>
          <a:p>
            <a:pPr marL="285750" lvl="0" indent="-285750" algn="just">
              <a:buFont typeface="Arial" panose="020B0604020202020204" pitchFamily="34" charset="0"/>
              <a:buChar char="•"/>
            </a:pPr>
            <a:r>
              <a:rPr lang="en-IN" dirty="0"/>
              <a:t>Delays and lost complaints</a:t>
            </a:r>
            <a:r>
              <a:rPr lang="en-IN" b="1" dirty="0"/>
              <a:t>:</a:t>
            </a:r>
            <a:r>
              <a:rPr lang="en-IN" dirty="0"/>
              <a:t> paper registers and verbal requests are easily misplaced, forgotten or never reach the warden, so issues stay unresolved for days.</a:t>
            </a:r>
          </a:p>
          <a:p>
            <a:pPr marL="285750" lvl="0" indent="-285750" algn="just">
              <a:buFont typeface="Arial" panose="020B0604020202020204" pitchFamily="34" charset="0"/>
              <a:buChar char="•"/>
            </a:pPr>
            <a:r>
              <a:rPr lang="en-IN" dirty="0"/>
              <a:t>Lack of data for decisions: without digital records, administrators cannot see repeated issues or find which hostel blocks or complaint types need attention.</a:t>
            </a:r>
          </a:p>
          <a:p>
            <a:pPr marL="342900" indent="-342900">
              <a:spcAft>
                <a:spcPts val="600"/>
              </a:spcAft>
              <a:buSzPct val="100000"/>
              <a:buChar char="•"/>
            </a:pPr>
            <a:endParaRPr lang="en-US" sz="1500" dirty="0"/>
          </a:p>
        </p:txBody>
      </p:sp>
      <p:sp>
        <p:nvSpPr>
          <p:cNvPr id="7" name="Text 5"/>
          <p:cNvSpPr txBox="1"/>
          <p:nvPr/>
        </p:nvSpPr>
        <p:spPr>
          <a:xfrm>
            <a:off x="3761117" y="4963639"/>
            <a:ext cx="5120640" cy="548640"/>
          </a:xfrm>
          <a:prstGeom prst="rect">
            <a:avLst/>
          </a:prstGeom>
          <a:noFill/>
          <a:ln/>
        </p:spPr>
        <p:txBody>
          <a:bodyPr wrap="square" lIns="0" tIns="0" rIns="0" bIns="0" rtlCol="0" anchor="ctr"/>
          <a:lstStyle/>
          <a:p>
            <a:pPr marL="0" indent="0" algn="ctr">
              <a:buNone/>
            </a:pPr>
            <a:endParaRPr lang="en-US" sz="1400" dirty="0"/>
          </a:p>
        </p:txBody>
      </p:sp>
      <p:sp>
        <p:nvSpPr>
          <p:cNvPr id="25" name="Slide Number Placeholder 0"/>
          <p:cNvSpPr>
            <a:spLocks noGrp="1"/>
          </p:cNvSpPr>
          <p:nvPr>
            <p:ph type="sldNum" sz="quarter" idx="4294967295"/>
          </p:nvPr>
        </p:nvSpPr>
        <p:spPr>
          <a:xfrm>
            <a:off x="10789920" y="6400800"/>
            <a:ext cx="758952" cy="32004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1"/>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4"/>
          <p:cNvSpPr>
            <a:spLocks noGrp="1"/>
          </p:cNvSpPr>
          <p:nvPr>
            <p:ph type="title" idx="104" hasCustomPrompt="1"/>
          </p:nvPr>
        </p:nvSpPr>
        <p:spPr>
          <a:xfrm>
            <a:off x="640080" y="274320"/>
            <a:ext cx="10908792" cy="548640"/>
          </a:xfrm>
          <a:prstGeom prst="rect">
            <a:avLst/>
          </a:prstGeom>
          <a:noFill/>
          <a:ln/>
        </p:spPr>
        <p:txBody>
          <a:bodyPr wrap="square" lIns="0" tIns="0" rIns="0" bIns="0" rtlCol="0" anchor="ctr"/>
          <a:lstStyle/>
          <a:p>
            <a:pPr marL="0" indent="0" algn="ctr">
              <a:buNone/>
            </a:pPr>
            <a:r>
              <a:rPr lang="en-US" sz="2600" b="1" dirty="0">
                <a:solidFill>
                  <a:schemeClr val="tx2"/>
                </a:solidFill>
              </a:rPr>
              <a:t>HTML &amp; CSS IMPLEMENTATION</a:t>
            </a:r>
            <a:endParaRPr lang="en-US" sz="2600" dirty="0"/>
          </a:p>
        </p:txBody>
      </p:sp>
      <p:sp>
        <p:nvSpPr>
          <p:cNvPr id="3" name="Text 1"/>
          <p:cNvSpPr txBox="1"/>
          <p:nvPr/>
        </p:nvSpPr>
        <p:spPr>
          <a:xfrm>
            <a:off x="640080" y="1188720"/>
            <a:ext cx="5394960" cy="411480"/>
          </a:xfrm>
          <a:prstGeom prst="rect">
            <a:avLst/>
          </a:prstGeom>
          <a:noFill/>
          <a:ln/>
        </p:spPr>
        <p:txBody>
          <a:bodyPr wrap="square" lIns="0" tIns="0" rIns="0" bIns="0" rtlCol="0" anchor="ctr"/>
          <a:lstStyle/>
          <a:p>
            <a:pPr marL="0" indent="0">
              <a:buNone/>
            </a:pPr>
            <a:r>
              <a:rPr lang="en-US" sz="2000" b="1" dirty="0">
                <a:solidFill>
                  <a:schemeClr val="tx2"/>
                </a:solidFill>
              </a:rPr>
              <a:t>HTML5 provides the structure</a:t>
            </a:r>
            <a:endParaRPr lang="en-US" sz="2000" dirty="0"/>
          </a:p>
        </p:txBody>
      </p:sp>
      <p:sp>
        <p:nvSpPr>
          <p:cNvPr id="4" name="Text 2"/>
          <p:cNvSpPr txBox="1"/>
          <p:nvPr/>
        </p:nvSpPr>
        <p:spPr>
          <a:xfrm>
            <a:off x="640080" y="1691640"/>
            <a:ext cx="5394960" cy="1828800"/>
          </a:xfrm>
          <a:prstGeom prst="rect">
            <a:avLst/>
          </a:prstGeom>
          <a:noFill/>
          <a:ln/>
        </p:spPr>
        <p:txBody>
          <a:bodyPr wrap="square" lIns="0" tIns="0" rIns="0" bIns="0" rtlCol="0" anchor="t"/>
          <a:lstStyle/>
          <a:p>
            <a:pPr marL="342900" indent="-342900">
              <a:spcAft>
                <a:spcPts val="600"/>
              </a:spcAft>
              <a:buSzPct val="100000"/>
              <a:buChar char="•"/>
            </a:pPr>
            <a:r>
              <a:rPr lang="en-US" dirty="0">
                <a:solidFill>
                  <a:schemeClr val="tx1"/>
                </a:solidFill>
              </a:rPr>
              <a:t>Semantic sections and EJS partials for shared layout</a:t>
            </a:r>
            <a:endParaRPr lang="en-US" dirty="0"/>
          </a:p>
          <a:p>
            <a:pPr marL="342900" indent="-342900">
              <a:spcAft>
                <a:spcPts val="600"/>
              </a:spcAft>
              <a:buSzPct val="100000"/>
              <a:buChar char="•"/>
            </a:pPr>
            <a:r>
              <a:rPr lang="en-US" dirty="0">
                <a:solidFill>
                  <a:schemeClr val="tx1"/>
                </a:solidFill>
              </a:rPr>
              <a:t>Forms for login, registration and complaint submission</a:t>
            </a:r>
            <a:endParaRPr lang="en-US" dirty="0"/>
          </a:p>
          <a:p>
            <a:pPr marL="342900" indent="-342900">
              <a:spcAft>
                <a:spcPts val="600"/>
              </a:spcAft>
              <a:buSzPct val="100000"/>
              <a:buChar char="•"/>
            </a:pPr>
            <a:r>
              <a:rPr lang="en-US" dirty="0">
                <a:solidFill>
                  <a:schemeClr val="tx1"/>
                </a:solidFill>
              </a:rPr>
              <a:t>Inputs, selects, tables and dynamic containers</a:t>
            </a:r>
            <a:endParaRPr lang="en-US" dirty="0"/>
          </a:p>
          <a:p>
            <a:pPr marL="342900" indent="-342900">
              <a:spcAft>
                <a:spcPts val="600"/>
              </a:spcAft>
              <a:buSzPct val="100000"/>
              <a:buChar char="•"/>
            </a:pPr>
            <a:r>
              <a:rPr lang="en-US" dirty="0">
                <a:solidFill>
                  <a:schemeClr val="tx1"/>
                </a:solidFill>
              </a:rPr>
              <a:t>Labels and required fields for accessibility</a:t>
            </a:r>
            <a:endParaRPr lang="en-US" dirty="0"/>
          </a:p>
        </p:txBody>
      </p:sp>
      <p:sp>
        <p:nvSpPr>
          <p:cNvPr id="5" name="Shape 3"/>
          <p:cNvSpPr/>
          <p:nvPr/>
        </p:nvSpPr>
        <p:spPr>
          <a:xfrm>
            <a:off x="640080" y="3657600"/>
            <a:ext cx="5394960" cy="2560320"/>
          </a:xfrm>
          <a:prstGeom prst="rect">
            <a:avLst/>
          </a:prstGeom>
          <a:solidFill>
            <a:schemeClr val="bg2"/>
          </a:solidFill>
          <a:ln w="9525">
            <a:solidFill>
              <a:srgbClr val="D1D5DB"/>
            </a:solidFill>
            <a:prstDash val="solid"/>
          </a:ln>
        </p:spPr>
      </p:sp>
      <p:sp>
        <p:nvSpPr>
          <p:cNvPr id="6" name="Text 4"/>
          <p:cNvSpPr txBox="1"/>
          <p:nvPr/>
        </p:nvSpPr>
        <p:spPr>
          <a:xfrm>
            <a:off x="777240" y="3730752"/>
            <a:ext cx="5120640" cy="274320"/>
          </a:xfrm>
          <a:prstGeom prst="rect">
            <a:avLst/>
          </a:prstGeom>
          <a:noFill/>
          <a:ln/>
        </p:spPr>
        <p:txBody>
          <a:bodyPr wrap="square" lIns="0" tIns="0" rIns="0" bIns="0" rtlCol="0" anchor="ctr"/>
          <a:lstStyle/>
          <a:p>
            <a:pPr marL="0" indent="0">
              <a:buNone/>
            </a:pPr>
            <a:r>
              <a:rPr lang="en-US" sz="1100" b="1" dirty="0">
                <a:solidFill>
                  <a:schemeClr val="accent1"/>
                </a:solidFill>
              </a:rPr>
              <a:t>HTML FORM EXAMPLE</a:t>
            </a:r>
            <a:endParaRPr lang="en-US" sz="1100" dirty="0"/>
          </a:p>
        </p:txBody>
      </p:sp>
      <p:sp>
        <p:nvSpPr>
          <p:cNvPr id="7" name="Text 5"/>
          <p:cNvSpPr txBox="1"/>
          <p:nvPr/>
        </p:nvSpPr>
        <p:spPr>
          <a:xfrm>
            <a:off x="777240" y="4041648"/>
            <a:ext cx="5120640" cy="2103120"/>
          </a:xfrm>
          <a:prstGeom prst="rect">
            <a:avLst/>
          </a:prstGeom>
          <a:noFill/>
          <a:ln/>
        </p:spPr>
        <p:txBody>
          <a:bodyPr wrap="square" lIns="0" tIns="0" rIns="0" bIns="0" rtlCol="0" anchor="t"/>
          <a:lstStyle/>
          <a:p>
            <a:pPr marL="0" indent="0">
              <a:buNone/>
            </a:pPr>
            <a:r>
              <a:rPr lang="en-US" sz="1100" dirty="0">
                <a:solidFill>
                  <a:schemeClr val="tx1"/>
                </a:solidFill>
                <a:latin typeface="Courier New" pitchFamily="34" charset="0"/>
                <a:ea typeface="Courier New" pitchFamily="34" charset="-122"/>
                <a:cs typeface="Courier New" pitchFamily="34" charset="-120"/>
              </a:rPr>
              <a:t>&lt;form action="/login" method="POST"&gt;</a:t>
            </a:r>
            <a:endParaRPr lang="en-US" sz="1100" dirty="0"/>
          </a:p>
          <a:p>
            <a:pPr marL="0" indent="0">
              <a:buNone/>
            </a:pPr>
            <a:r>
              <a:rPr lang="en-US" sz="1100" dirty="0">
                <a:solidFill>
                  <a:schemeClr val="tx1"/>
                </a:solidFill>
                <a:latin typeface="Courier New" pitchFamily="34" charset="0"/>
                <a:ea typeface="Courier New" pitchFamily="34" charset="-122"/>
                <a:cs typeface="Courier New" pitchFamily="34" charset="-120"/>
              </a:rPr>
              <a:t>  &lt;label&gt;Username</a:t>
            </a:r>
            <a:endParaRPr lang="en-US" sz="1100" dirty="0"/>
          </a:p>
          <a:p>
            <a:pPr marL="0" indent="0">
              <a:buNone/>
            </a:pPr>
            <a:r>
              <a:rPr lang="en-US" sz="1100" dirty="0">
                <a:solidFill>
                  <a:schemeClr val="tx1"/>
                </a:solidFill>
                <a:latin typeface="Courier New" pitchFamily="34" charset="0"/>
                <a:ea typeface="Courier New" pitchFamily="34" charset="-122"/>
                <a:cs typeface="Courier New" pitchFamily="34" charset="-120"/>
              </a:rPr>
              <a:t>    &lt;input type="text" name="username" required&gt;</a:t>
            </a:r>
            <a:endParaRPr lang="en-US" sz="1100" dirty="0"/>
          </a:p>
          <a:p>
            <a:pPr marL="0" indent="0">
              <a:buNone/>
            </a:pPr>
            <a:r>
              <a:rPr lang="en-US" sz="1100" dirty="0">
                <a:solidFill>
                  <a:schemeClr val="tx1"/>
                </a:solidFill>
                <a:latin typeface="Courier New" pitchFamily="34" charset="0"/>
                <a:ea typeface="Courier New" pitchFamily="34" charset="-122"/>
                <a:cs typeface="Courier New" pitchFamily="34" charset="-120"/>
              </a:rPr>
              <a:t>  &lt;/label&gt;</a:t>
            </a:r>
            <a:endParaRPr lang="en-US" sz="1100" dirty="0"/>
          </a:p>
          <a:p>
            <a:pPr marL="0" indent="0">
              <a:buNone/>
            </a:pPr>
            <a:r>
              <a:rPr lang="en-US" sz="1100" dirty="0">
                <a:solidFill>
                  <a:schemeClr val="tx1"/>
                </a:solidFill>
                <a:latin typeface="Courier New" pitchFamily="34" charset="0"/>
                <a:ea typeface="Courier New" pitchFamily="34" charset="-122"/>
                <a:cs typeface="Courier New" pitchFamily="34" charset="-120"/>
              </a:rPr>
              <a:t>  &lt;label&gt;Password</a:t>
            </a:r>
            <a:endParaRPr lang="en-US" sz="1100" dirty="0"/>
          </a:p>
          <a:p>
            <a:pPr marL="0" indent="0">
              <a:buNone/>
            </a:pPr>
            <a:r>
              <a:rPr lang="en-US" sz="1100" dirty="0">
                <a:solidFill>
                  <a:schemeClr val="tx1"/>
                </a:solidFill>
                <a:latin typeface="Courier New" pitchFamily="34" charset="0"/>
                <a:ea typeface="Courier New" pitchFamily="34" charset="-122"/>
                <a:cs typeface="Courier New" pitchFamily="34" charset="-120"/>
              </a:rPr>
              <a:t>    &lt;input type="password" name="password" required&gt;</a:t>
            </a:r>
            <a:endParaRPr lang="en-US" sz="1100" dirty="0"/>
          </a:p>
          <a:p>
            <a:pPr marL="0" indent="0">
              <a:buNone/>
            </a:pPr>
            <a:r>
              <a:rPr lang="en-US" sz="1100" dirty="0">
                <a:solidFill>
                  <a:schemeClr val="tx1"/>
                </a:solidFill>
                <a:latin typeface="Courier New" pitchFamily="34" charset="0"/>
                <a:ea typeface="Courier New" pitchFamily="34" charset="-122"/>
                <a:cs typeface="Courier New" pitchFamily="34" charset="-120"/>
              </a:rPr>
              <a:t>  &lt;/label&gt;</a:t>
            </a:r>
            <a:endParaRPr lang="en-US" sz="1100" dirty="0"/>
          </a:p>
          <a:p>
            <a:pPr marL="0" indent="0">
              <a:buNone/>
            </a:pPr>
            <a:r>
              <a:rPr lang="en-US" sz="1100" dirty="0">
                <a:solidFill>
                  <a:schemeClr val="tx1"/>
                </a:solidFill>
                <a:latin typeface="Courier New" pitchFamily="34" charset="0"/>
                <a:ea typeface="Courier New" pitchFamily="34" charset="-122"/>
                <a:cs typeface="Courier New" pitchFamily="34" charset="-120"/>
              </a:rPr>
              <a:t>  &lt;button type="submit"&gt;Login&lt;/button&gt;</a:t>
            </a:r>
            <a:endParaRPr lang="en-US" sz="1100" dirty="0"/>
          </a:p>
          <a:p>
            <a:pPr marL="0" indent="0">
              <a:buNone/>
            </a:pPr>
            <a:r>
              <a:rPr lang="en-US" sz="1100" dirty="0">
                <a:solidFill>
                  <a:schemeClr val="tx1"/>
                </a:solidFill>
                <a:latin typeface="Courier New" pitchFamily="34" charset="0"/>
                <a:ea typeface="Courier New" pitchFamily="34" charset="-122"/>
                <a:cs typeface="Courier New" pitchFamily="34" charset="-120"/>
              </a:rPr>
              <a:t>&lt;/form&gt;</a:t>
            </a:r>
            <a:endParaRPr lang="en-US" sz="1100" dirty="0"/>
          </a:p>
        </p:txBody>
      </p:sp>
      <p:sp>
        <p:nvSpPr>
          <p:cNvPr id="8" name="Image placeholder"/>
          <p:cNvSpPr/>
          <p:nvPr/>
        </p:nvSpPr>
        <p:spPr>
          <a:xfrm>
            <a:off x="6400800" y="1234440"/>
            <a:ext cx="5120640" cy="3566160"/>
          </a:xfrm>
          <a:prstGeom prst="rect">
            <a:avLst/>
          </a:prstGeom>
          <a:solidFill>
            <a:schemeClr val="bg2"/>
          </a:solidFill>
          <a:ln w="19050">
            <a:solidFill>
              <a:schemeClr val="tx2"/>
            </a:solidFill>
            <a:prstDash val="dash"/>
          </a:ln>
        </p:spPr>
      </p:sp>
      <p:sp>
        <p:nvSpPr>
          <p:cNvPr id="9" name="Image placeholder label"/>
          <p:cNvSpPr txBox="1"/>
          <p:nvPr/>
        </p:nvSpPr>
        <p:spPr>
          <a:xfrm>
            <a:off x="6583680" y="1234440"/>
            <a:ext cx="4754880" cy="3566160"/>
          </a:xfrm>
          <a:prstGeom prst="rect">
            <a:avLst/>
          </a:prstGeom>
          <a:noFill/>
          <a:ln/>
        </p:spPr>
        <p:txBody>
          <a:bodyPr wrap="square" rtlCol="0" anchor="ctr"/>
          <a:lstStyle/>
          <a:p>
            <a:pPr marL="0" indent="0" algn="ctr">
              <a:buNone/>
            </a:pPr>
            <a:r>
              <a:rPr lang="en-US" sz="1600" b="1" dirty="0">
                <a:solidFill>
                  <a:schemeClr val="tx2"/>
                </a:solidFill>
              </a:rPr>
              <a:t>PASTE IMAGE HERE</a:t>
            </a:r>
            <a:endParaRPr lang="en-US" sz="1600" dirty="0"/>
          </a:p>
          <a:p>
            <a:pPr marL="0" indent="0" algn="ctr">
              <a:buNone/>
            </a:pPr>
            <a:r>
              <a:rPr lang="en-US" sz="1200" dirty="0">
                <a:solidFill>
                  <a:schemeClr val="accent6"/>
                </a:solidFill>
              </a:rPr>
              <a:t>Login / Register page screenshot</a:t>
            </a:r>
            <a:endParaRPr lang="en-US" sz="1600" dirty="0"/>
          </a:p>
        </p:txBody>
      </p:sp>
      <p:sp>
        <p:nvSpPr>
          <p:cNvPr id="25" name="Slide Number Placeholder 0"/>
          <p:cNvSpPr>
            <a:spLocks noGrp="1"/>
          </p:cNvSpPr>
          <p:nvPr>
            <p:ph type="sldNum" sz="quarter" idx="4294967295"/>
          </p:nvPr>
        </p:nvSpPr>
        <p:spPr>
          <a:xfrm>
            <a:off x="10789920" y="6400800"/>
            <a:ext cx="758952" cy="32004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1"/>
                </a:solidFill>
              </a:defRPr>
            </a:lvl1pPr>
          </a:lstStyle>
          <a:p>
            <a:pPr algn="r"/>
            <a:fld id="{F7021451-1387-4CA6-816F-3879F97B5CBC}" type="slidenum">
              <a:rPr lang="en-US" b="0"/>
              <a:t>7</a:t>
            </a:fld>
            <a:endParaRPr lang="en-US"/>
          </a:p>
        </p:txBody>
      </p:sp>
      <p:pic>
        <p:nvPicPr>
          <p:cNvPr id="12" name="Picture 11">
            <a:extLst>
              <a:ext uri="{FF2B5EF4-FFF2-40B4-BE49-F238E27FC236}">
                <a16:creationId xmlns:a16="http://schemas.microsoft.com/office/drawing/2014/main" id="{E417497D-A403-C74A-EEF1-DF9A95A92B74}"/>
              </a:ext>
            </a:extLst>
          </p:cNvPr>
          <p:cNvPicPr>
            <a:picLocks noChangeAspect="1"/>
          </p:cNvPicPr>
          <p:nvPr/>
        </p:nvPicPr>
        <p:blipFill>
          <a:blip r:embed="rId3"/>
          <a:stretch>
            <a:fillRect/>
          </a:stretch>
        </p:blipFill>
        <p:spPr>
          <a:xfrm>
            <a:off x="6331789" y="1086928"/>
            <a:ext cx="5296637" cy="381287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4"/>
          <p:cNvSpPr>
            <a:spLocks noGrp="1"/>
          </p:cNvSpPr>
          <p:nvPr>
            <p:ph type="title" idx="104" hasCustomPrompt="1"/>
          </p:nvPr>
        </p:nvSpPr>
        <p:spPr>
          <a:xfrm>
            <a:off x="640080" y="274320"/>
            <a:ext cx="10908792" cy="548640"/>
          </a:xfrm>
          <a:prstGeom prst="rect">
            <a:avLst/>
          </a:prstGeom>
          <a:noFill/>
          <a:ln/>
        </p:spPr>
        <p:txBody>
          <a:bodyPr wrap="square" lIns="0" tIns="0" rIns="0" bIns="0" rtlCol="0" anchor="ctr"/>
          <a:lstStyle/>
          <a:p>
            <a:pPr marL="0" indent="0" algn="ctr">
              <a:buNone/>
            </a:pPr>
            <a:r>
              <a:rPr lang="en-US" sz="2600" b="1" dirty="0">
                <a:solidFill>
                  <a:schemeClr val="tx2"/>
                </a:solidFill>
              </a:rPr>
              <a:t>JAVASCRIPT – DOM, EVENTS &amp; DYNAMIC UI</a:t>
            </a:r>
            <a:endParaRPr lang="en-US" sz="2600" dirty="0"/>
          </a:p>
        </p:txBody>
      </p:sp>
      <p:sp>
        <p:nvSpPr>
          <p:cNvPr id="3" name="Text 1"/>
          <p:cNvSpPr txBox="1"/>
          <p:nvPr/>
        </p:nvSpPr>
        <p:spPr>
          <a:xfrm>
            <a:off x="640080" y="1188720"/>
            <a:ext cx="5394960" cy="411480"/>
          </a:xfrm>
          <a:prstGeom prst="rect">
            <a:avLst/>
          </a:prstGeom>
          <a:noFill/>
          <a:ln/>
        </p:spPr>
        <p:txBody>
          <a:bodyPr wrap="square" lIns="0" tIns="0" rIns="0" bIns="0" rtlCol="0" anchor="ctr"/>
          <a:lstStyle/>
          <a:p>
            <a:pPr marL="0" indent="0">
              <a:buNone/>
            </a:pPr>
            <a:r>
              <a:rPr lang="en-US" sz="2000" b="1" dirty="0">
                <a:solidFill>
                  <a:schemeClr val="tx2"/>
                </a:solidFill>
              </a:rPr>
              <a:t>Client-side interaction in the portal</a:t>
            </a:r>
            <a:endParaRPr lang="en-US" sz="2000" dirty="0"/>
          </a:p>
        </p:txBody>
      </p:sp>
      <p:sp>
        <p:nvSpPr>
          <p:cNvPr id="4" name="Text 2"/>
          <p:cNvSpPr txBox="1"/>
          <p:nvPr/>
        </p:nvSpPr>
        <p:spPr>
          <a:xfrm>
            <a:off x="640080" y="1691640"/>
            <a:ext cx="5394960" cy="19202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Event listeners handle click, change and submit actions.</a:t>
            </a:r>
            <a:endParaRPr lang="en-US" sz="1600" dirty="0"/>
          </a:p>
          <a:p>
            <a:pPr marL="342900" indent="-342900">
              <a:spcAft>
                <a:spcPts val="600"/>
              </a:spcAft>
              <a:buSzPct val="100000"/>
              <a:buChar char="•"/>
            </a:pPr>
            <a:r>
              <a:rPr lang="en-US" sz="1600" dirty="0">
                <a:solidFill>
                  <a:schemeClr val="tx1"/>
                </a:solidFill>
              </a:rPr>
              <a:t>DOM updates drive toast notifications, filters and loading indicators.</a:t>
            </a:r>
            <a:endParaRPr lang="en-US" sz="1600" dirty="0"/>
          </a:p>
          <a:p>
            <a:pPr marL="342900" indent="-342900">
              <a:spcAft>
                <a:spcPts val="600"/>
              </a:spcAft>
              <a:buSzPct val="100000"/>
              <a:buChar char="•"/>
            </a:pPr>
            <a:r>
              <a:rPr lang="en-US" sz="1600" dirty="0">
                <a:solidFill>
                  <a:schemeClr val="tx1"/>
                </a:solidFill>
              </a:rPr>
              <a:t>Search, filters and pagination keep long complaint lists easy to use.</a:t>
            </a:r>
            <a:endParaRPr lang="en-US" sz="1600" dirty="0"/>
          </a:p>
          <a:p>
            <a:pPr marL="342900" indent="-342900">
              <a:spcAft>
                <a:spcPts val="600"/>
              </a:spcAft>
              <a:buSzPct val="100000"/>
              <a:buChar char="•"/>
            </a:pPr>
            <a:r>
              <a:rPr lang="en-US" sz="1600" dirty="0">
                <a:solidFill>
                  <a:schemeClr val="tx1"/>
                </a:solidFill>
              </a:rPr>
              <a:t>Chart.js renders dashboard charts for admins.</a:t>
            </a:r>
            <a:endParaRPr lang="en-US" sz="1600" dirty="0"/>
          </a:p>
        </p:txBody>
      </p:sp>
      <p:sp>
        <p:nvSpPr>
          <p:cNvPr id="5" name="Shape 3"/>
          <p:cNvSpPr/>
          <p:nvPr/>
        </p:nvSpPr>
        <p:spPr>
          <a:xfrm>
            <a:off x="640080" y="3749040"/>
            <a:ext cx="5394960" cy="2468880"/>
          </a:xfrm>
          <a:prstGeom prst="rect">
            <a:avLst/>
          </a:prstGeom>
          <a:solidFill>
            <a:schemeClr val="bg2"/>
          </a:solidFill>
          <a:ln w="9525">
            <a:solidFill>
              <a:srgbClr val="D1D5DB"/>
            </a:solidFill>
            <a:prstDash val="solid"/>
          </a:ln>
        </p:spPr>
      </p:sp>
      <p:sp>
        <p:nvSpPr>
          <p:cNvPr id="6" name="Text 4"/>
          <p:cNvSpPr txBox="1"/>
          <p:nvPr/>
        </p:nvSpPr>
        <p:spPr>
          <a:xfrm>
            <a:off x="777240" y="3822192"/>
            <a:ext cx="5120640" cy="274320"/>
          </a:xfrm>
          <a:prstGeom prst="rect">
            <a:avLst/>
          </a:prstGeom>
          <a:noFill/>
          <a:ln/>
        </p:spPr>
        <p:txBody>
          <a:bodyPr wrap="square" lIns="0" tIns="0" rIns="0" bIns="0" rtlCol="0" anchor="ctr"/>
          <a:lstStyle/>
          <a:p>
            <a:pPr marL="0" indent="0">
              <a:buNone/>
            </a:pPr>
            <a:r>
              <a:rPr lang="en-US" sz="1100" b="1" dirty="0">
                <a:solidFill>
                  <a:schemeClr val="accent1"/>
                </a:solidFill>
              </a:rPr>
              <a:t>JAVASCRIPT EVENT EXAMPLE</a:t>
            </a:r>
            <a:endParaRPr lang="en-US" sz="1100" dirty="0"/>
          </a:p>
        </p:txBody>
      </p:sp>
      <p:sp>
        <p:nvSpPr>
          <p:cNvPr id="7" name="Text 5"/>
          <p:cNvSpPr txBox="1"/>
          <p:nvPr/>
        </p:nvSpPr>
        <p:spPr>
          <a:xfrm>
            <a:off x="777240" y="4133088"/>
            <a:ext cx="5120640" cy="2011680"/>
          </a:xfrm>
          <a:prstGeom prst="rect">
            <a:avLst/>
          </a:prstGeom>
          <a:noFill/>
          <a:ln/>
        </p:spPr>
        <p:txBody>
          <a:bodyPr wrap="square" lIns="0" tIns="0" rIns="0" bIns="0" rtlCol="0" anchor="t"/>
          <a:lstStyle/>
          <a:p>
            <a:pPr marL="0" indent="0">
              <a:buNone/>
            </a:pPr>
            <a:r>
              <a:rPr lang="en-US" sz="1100" dirty="0">
                <a:solidFill>
                  <a:schemeClr val="tx1"/>
                </a:solidFill>
                <a:latin typeface="Courier New" pitchFamily="34" charset="0"/>
                <a:ea typeface="Courier New" pitchFamily="34" charset="-122"/>
                <a:cs typeface="Courier New" pitchFamily="34" charset="-120"/>
              </a:rPr>
              <a:t>form.addEventListener('submit', (e) =&gt; {</a:t>
            </a:r>
            <a:endParaRPr lang="en-US" sz="1100" dirty="0"/>
          </a:p>
          <a:p>
            <a:pPr marL="0" indent="0">
              <a:buNone/>
            </a:pPr>
            <a:r>
              <a:rPr lang="en-US" sz="1100" dirty="0">
                <a:solidFill>
                  <a:schemeClr val="tx1"/>
                </a:solidFill>
                <a:latin typeface="Courier New" pitchFamily="34" charset="0"/>
                <a:ea typeface="Courier New" pitchFamily="34" charset="-122"/>
                <a:cs typeface="Courier New" pitchFamily="34" charset="-120"/>
              </a:rPr>
              <a:t>  if (!form.checkValidity()) {</a:t>
            </a:r>
            <a:endParaRPr lang="en-US" sz="1100" dirty="0"/>
          </a:p>
          <a:p>
            <a:pPr marL="0" indent="0">
              <a:buNone/>
            </a:pPr>
            <a:r>
              <a:rPr lang="en-US" sz="1100" dirty="0">
                <a:solidFill>
                  <a:schemeClr val="tx1"/>
                </a:solidFill>
                <a:latin typeface="Courier New" pitchFamily="34" charset="0"/>
                <a:ea typeface="Courier New" pitchFamily="34" charset="-122"/>
                <a:cs typeface="Courier New" pitchFamily="34" charset="-120"/>
              </a:rPr>
              <a:t>    e.preventDefault();</a:t>
            </a:r>
            <a:endParaRPr lang="en-US" sz="1100" dirty="0"/>
          </a:p>
          <a:p>
            <a:pPr marL="0" indent="0">
              <a:buNone/>
            </a:pPr>
            <a:r>
              <a:rPr lang="en-US" sz="1100" dirty="0">
                <a:solidFill>
                  <a:schemeClr val="tx1"/>
                </a:solidFill>
                <a:latin typeface="Courier New" pitchFamily="34" charset="0"/>
                <a:ea typeface="Courier New" pitchFamily="34" charset="-122"/>
                <a:cs typeface="Courier New" pitchFamily="34" charset="-120"/>
              </a:rPr>
              <a:t>    showToast('Please fill all fields', 'error');</a:t>
            </a:r>
            <a:endParaRPr lang="en-US" sz="1100" dirty="0"/>
          </a:p>
          <a:p>
            <a:pPr marL="0" indent="0">
              <a:buNone/>
            </a:pPr>
            <a:r>
              <a:rPr lang="en-US" sz="1100" dirty="0">
                <a:solidFill>
                  <a:schemeClr val="tx1"/>
                </a:solidFill>
                <a:latin typeface="Courier New" pitchFamily="34" charset="0"/>
                <a:ea typeface="Courier New" pitchFamily="34" charset="-122"/>
                <a:cs typeface="Courier New" pitchFamily="34" charset="-120"/>
              </a:rPr>
              <a:t>  }</a:t>
            </a:r>
            <a:endParaRPr lang="en-US" sz="1100" dirty="0"/>
          </a:p>
          <a:p>
            <a:pPr marL="0" indent="0">
              <a:buNone/>
            </a:pPr>
            <a:r>
              <a:rPr lang="en-US" sz="1100" dirty="0">
                <a:solidFill>
                  <a:schemeClr val="tx1"/>
                </a:solidFill>
                <a:latin typeface="Courier New" pitchFamily="34" charset="0"/>
                <a:ea typeface="Courier New" pitchFamily="34" charset="-122"/>
                <a:cs typeface="Courier New" pitchFamily="34" charset="-120"/>
              </a:rPr>
              <a:t>});</a:t>
            </a:r>
            <a:endParaRPr lang="en-US" sz="1100" dirty="0"/>
          </a:p>
          <a:p>
            <a:pPr marL="0" indent="0">
              <a:buNone/>
            </a:pPr>
            <a:endParaRPr lang="en-US" sz="1100" dirty="0"/>
          </a:p>
          <a:p>
            <a:pPr marL="0" indent="0">
              <a:buNone/>
            </a:pPr>
            <a:r>
              <a:rPr lang="en-US" sz="1100" dirty="0">
                <a:solidFill>
                  <a:schemeClr val="tx1"/>
                </a:solidFill>
                <a:latin typeface="Courier New" pitchFamily="34" charset="0"/>
                <a:ea typeface="Courier New" pitchFamily="34" charset="-122"/>
                <a:cs typeface="Courier New" pitchFamily="34" charset="-120"/>
              </a:rPr>
              <a:t>setTimeout(() =&gt; toast.remove(), 3000);</a:t>
            </a:r>
            <a:endParaRPr lang="en-US" sz="1100" dirty="0"/>
          </a:p>
        </p:txBody>
      </p:sp>
      <p:sp>
        <p:nvSpPr>
          <p:cNvPr id="8" name="Image placeholder"/>
          <p:cNvSpPr/>
          <p:nvPr/>
        </p:nvSpPr>
        <p:spPr>
          <a:xfrm>
            <a:off x="6400800" y="1234440"/>
            <a:ext cx="5120640" cy="4937760"/>
          </a:xfrm>
          <a:prstGeom prst="rect">
            <a:avLst/>
          </a:prstGeom>
          <a:solidFill>
            <a:schemeClr val="bg2"/>
          </a:solidFill>
          <a:ln w="19050">
            <a:solidFill>
              <a:schemeClr val="tx2"/>
            </a:solidFill>
            <a:prstDash val="dash"/>
          </a:ln>
        </p:spPr>
      </p:sp>
      <p:sp>
        <p:nvSpPr>
          <p:cNvPr id="9" name="Image placeholder label"/>
          <p:cNvSpPr txBox="1"/>
          <p:nvPr/>
        </p:nvSpPr>
        <p:spPr>
          <a:xfrm>
            <a:off x="6583680" y="1234440"/>
            <a:ext cx="4754880" cy="4937760"/>
          </a:xfrm>
          <a:prstGeom prst="rect">
            <a:avLst/>
          </a:prstGeom>
          <a:noFill/>
          <a:ln/>
        </p:spPr>
        <p:txBody>
          <a:bodyPr wrap="square" rtlCol="0" anchor="ctr"/>
          <a:lstStyle/>
          <a:p>
            <a:pPr marL="0" indent="0" algn="ctr">
              <a:buNone/>
            </a:pPr>
            <a:r>
              <a:rPr lang="en-US" sz="1600" b="1" dirty="0">
                <a:solidFill>
                  <a:schemeClr val="tx2"/>
                </a:solidFill>
              </a:rPr>
              <a:t>PASTE IMAGE HERE</a:t>
            </a:r>
            <a:endParaRPr lang="en-US" sz="1600" dirty="0"/>
          </a:p>
          <a:p>
            <a:pPr marL="0" indent="0" algn="ctr">
              <a:buNone/>
            </a:pPr>
            <a:r>
              <a:rPr lang="en-US" sz="1200" dirty="0">
                <a:solidFill>
                  <a:schemeClr val="accent6"/>
                </a:solidFill>
              </a:rPr>
              <a:t>Dashboard / complaints page screenshot</a:t>
            </a:r>
            <a:endParaRPr lang="en-US" sz="1600" dirty="0"/>
          </a:p>
        </p:txBody>
      </p:sp>
      <p:sp>
        <p:nvSpPr>
          <p:cNvPr id="25" name="Slide Number Placeholder 0"/>
          <p:cNvSpPr>
            <a:spLocks noGrp="1"/>
          </p:cNvSpPr>
          <p:nvPr>
            <p:ph type="sldNum" sz="quarter" idx="4294967295"/>
          </p:nvPr>
        </p:nvSpPr>
        <p:spPr>
          <a:xfrm>
            <a:off x="10789920" y="6400800"/>
            <a:ext cx="758952" cy="32004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1"/>
                </a:solidFill>
              </a:defRPr>
            </a:lvl1pPr>
          </a:lstStyle>
          <a:p>
            <a:pPr algn="r"/>
            <a:fld id="{F7021451-1387-4CA6-816F-3879F97B5CBC}" type="slidenum">
              <a:rPr lang="en-US" b="0"/>
              <a:t>8</a:t>
            </a:fld>
            <a:endParaRPr lang="en-US"/>
          </a:p>
        </p:txBody>
      </p:sp>
      <p:pic>
        <p:nvPicPr>
          <p:cNvPr id="11" name="Picture 10">
            <a:extLst>
              <a:ext uri="{FF2B5EF4-FFF2-40B4-BE49-F238E27FC236}">
                <a16:creationId xmlns:a16="http://schemas.microsoft.com/office/drawing/2014/main" id="{E9885D76-D870-39D8-2FEE-9910CC5AD420}"/>
              </a:ext>
            </a:extLst>
          </p:cNvPr>
          <p:cNvPicPr>
            <a:picLocks noChangeAspect="1"/>
          </p:cNvPicPr>
          <p:nvPr/>
        </p:nvPicPr>
        <p:blipFill>
          <a:blip r:embed="rId3"/>
          <a:stretch>
            <a:fillRect/>
          </a:stretch>
        </p:blipFill>
        <p:spPr>
          <a:xfrm>
            <a:off x="6400801" y="1234440"/>
            <a:ext cx="5148072" cy="49834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4"/>
          <p:cNvSpPr>
            <a:spLocks noGrp="1"/>
          </p:cNvSpPr>
          <p:nvPr>
            <p:ph type="title" idx="104" hasCustomPrompt="1"/>
          </p:nvPr>
        </p:nvSpPr>
        <p:spPr>
          <a:xfrm>
            <a:off x="640080" y="274320"/>
            <a:ext cx="10908792" cy="548640"/>
          </a:xfrm>
          <a:prstGeom prst="rect">
            <a:avLst/>
          </a:prstGeom>
          <a:noFill/>
          <a:ln/>
        </p:spPr>
        <p:txBody>
          <a:bodyPr wrap="square" lIns="0" tIns="0" rIns="0" bIns="0" rtlCol="0" anchor="ctr"/>
          <a:lstStyle/>
          <a:p>
            <a:pPr marL="0" indent="0" algn="ctr">
              <a:buNone/>
            </a:pPr>
            <a:r>
              <a:rPr lang="en-US" sz="2600" b="1" dirty="0">
                <a:solidFill>
                  <a:schemeClr val="tx2"/>
                </a:solidFill>
              </a:rPr>
              <a:t>USER MODULES &amp; INTERFACES</a:t>
            </a:r>
            <a:endParaRPr lang="en-US" sz="2600" dirty="0"/>
          </a:p>
        </p:txBody>
      </p:sp>
      <p:sp>
        <p:nvSpPr>
          <p:cNvPr id="3" name="Image placeholder"/>
          <p:cNvSpPr/>
          <p:nvPr/>
        </p:nvSpPr>
        <p:spPr>
          <a:xfrm>
            <a:off x="640080" y="1234440"/>
            <a:ext cx="3502152" cy="2651760"/>
          </a:xfrm>
          <a:prstGeom prst="rect">
            <a:avLst/>
          </a:prstGeom>
          <a:solidFill>
            <a:schemeClr val="bg2"/>
          </a:solidFill>
          <a:ln w="19050">
            <a:solidFill>
              <a:schemeClr val="tx2"/>
            </a:solidFill>
            <a:prstDash val="dash"/>
          </a:ln>
        </p:spPr>
      </p:sp>
      <p:sp>
        <p:nvSpPr>
          <p:cNvPr id="4" name="Image placeholder label"/>
          <p:cNvSpPr txBox="1"/>
          <p:nvPr/>
        </p:nvSpPr>
        <p:spPr>
          <a:xfrm>
            <a:off x="822960" y="1234440"/>
            <a:ext cx="3136392" cy="2651760"/>
          </a:xfrm>
          <a:prstGeom prst="rect">
            <a:avLst/>
          </a:prstGeom>
          <a:noFill/>
          <a:ln/>
        </p:spPr>
        <p:txBody>
          <a:bodyPr wrap="square" rtlCol="0" anchor="ctr"/>
          <a:lstStyle/>
          <a:p>
            <a:pPr marL="0" indent="0" algn="ctr">
              <a:buNone/>
            </a:pPr>
            <a:r>
              <a:rPr lang="en-US" sz="1600" b="1" dirty="0">
                <a:solidFill>
                  <a:schemeClr val="tx2"/>
                </a:solidFill>
              </a:rPr>
              <a:t>PASTE IMAGE HERE</a:t>
            </a:r>
            <a:endParaRPr lang="en-US" sz="1600" dirty="0"/>
          </a:p>
          <a:p>
            <a:pPr marL="0" indent="0" algn="ctr">
              <a:buNone/>
            </a:pPr>
            <a:r>
              <a:rPr lang="en-US" sz="1200" dirty="0">
                <a:solidFill>
                  <a:schemeClr val="accent6"/>
                </a:solidFill>
              </a:rPr>
              <a:t>Student dashboard screenshot</a:t>
            </a:r>
            <a:endParaRPr lang="en-US" sz="1600" dirty="0"/>
          </a:p>
        </p:txBody>
      </p:sp>
      <p:sp>
        <p:nvSpPr>
          <p:cNvPr id="5" name="Shape 3"/>
          <p:cNvSpPr/>
          <p:nvPr/>
        </p:nvSpPr>
        <p:spPr>
          <a:xfrm>
            <a:off x="640080" y="4023360"/>
            <a:ext cx="3502152" cy="2011680"/>
          </a:xfrm>
          <a:prstGeom prst="rect">
            <a:avLst/>
          </a:prstGeom>
          <a:solidFill>
            <a:schemeClr val="bg1"/>
          </a:solidFill>
          <a:ln w="9525">
            <a:solidFill>
              <a:srgbClr val="E5E7EB"/>
            </a:solidFill>
            <a:prstDash val="solid"/>
          </a:ln>
          <a:effectLst>
            <a:outerShdw blurRad="76200" dist="25400" dir="5400000" algn="bl" rotWithShape="0">
              <a:srgbClr val="000000">
                <a:alpha val="15000"/>
              </a:srgbClr>
            </a:outerShdw>
          </a:effectLst>
        </p:spPr>
      </p:sp>
      <p:sp>
        <p:nvSpPr>
          <p:cNvPr id="6" name="Shape 4"/>
          <p:cNvSpPr/>
          <p:nvPr/>
        </p:nvSpPr>
        <p:spPr>
          <a:xfrm>
            <a:off x="640080" y="4023360"/>
            <a:ext cx="82296" cy="2011680"/>
          </a:xfrm>
          <a:prstGeom prst="rect">
            <a:avLst/>
          </a:prstGeom>
          <a:solidFill>
            <a:schemeClr val="accent2"/>
          </a:solidFill>
          <a:ln w="12700">
            <a:solidFill>
              <a:schemeClr val="accent2"/>
            </a:solidFill>
            <a:prstDash val="solid"/>
          </a:ln>
        </p:spPr>
      </p:sp>
      <p:sp>
        <p:nvSpPr>
          <p:cNvPr id="7" name="Text 5"/>
          <p:cNvSpPr txBox="1"/>
          <p:nvPr/>
        </p:nvSpPr>
        <p:spPr>
          <a:xfrm>
            <a:off x="868680" y="4114800"/>
            <a:ext cx="3136392" cy="411480"/>
          </a:xfrm>
          <a:prstGeom prst="rect">
            <a:avLst/>
          </a:prstGeom>
          <a:noFill/>
          <a:ln/>
        </p:spPr>
        <p:txBody>
          <a:bodyPr wrap="square" lIns="0" tIns="0" rIns="0" bIns="0" rtlCol="0" anchor="ctr"/>
          <a:lstStyle/>
          <a:p>
            <a:pPr marL="0" indent="0">
              <a:buNone/>
            </a:pPr>
            <a:r>
              <a:rPr lang="en-US" sz="1600" b="1" dirty="0">
                <a:solidFill>
                  <a:schemeClr val="tx2"/>
                </a:solidFill>
              </a:rPr>
              <a:t>STUDENT PORTAL</a:t>
            </a:r>
            <a:endParaRPr lang="en-US" sz="1600" dirty="0"/>
          </a:p>
        </p:txBody>
      </p:sp>
      <p:sp>
        <p:nvSpPr>
          <p:cNvPr id="8" name="Text 6"/>
          <p:cNvSpPr txBox="1"/>
          <p:nvPr/>
        </p:nvSpPr>
        <p:spPr>
          <a:xfrm>
            <a:off x="868680" y="4617720"/>
            <a:ext cx="3136392" cy="1325880"/>
          </a:xfrm>
          <a:prstGeom prst="rect">
            <a:avLst/>
          </a:prstGeom>
          <a:noFill/>
          <a:ln/>
        </p:spPr>
        <p:txBody>
          <a:bodyPr wrap="square" lIns="0" tIns="0" rIns="0" bIns="0" rtlCol="0" anchor="t"/>
          <a:lstStyle/>
          <a:p>
            <a:pPr marL="0" indent="0">
              <a:buNone/>
            </a:pPr>
            <a:r>
              <a:rPr lang="en-US" sz="1400" dirty="0">
                <a:solidFill>
                  <a:schemeClr val="tx1"/>
                </a:solidFill>
              </a:rPr>
              <a:t>Submit complaints • Track status • Profile • Change password</a:t>
            </a:r>
            <a:endParaRPr lang="en-US" sz="1400" dirty="0"/>
          </a:p>
        </p:txBody>
      </p:sp>
      <p:sp>
        <p:nvSpPr>
          <p:cNvPr id="9" name="Image placeholder"/>
          <p:cNvSpPr/>
          <p:nvPr/>
        </p:nvSpPr>
        <p:spPr>
          <a:xfrm>
            <a:off x="4343400" y="1234440"/>
            <a:ext cx="3502152" cy="2651760"/>
          </a:xfrm>
          <a:prstGeom prst="rect">
            <a:avLst/>
          </a:prstGeom>
          <a:solidFill>
            <a:schemeClr val="bg2"/>
          </a:solidFill>
          <a:ln w="19050">
            <a:solidFill>
              <a:schemeClr val="tx2"/>
            </a:solidFill>
            <a:prstDash val="dash"/>
          </a:ln>
        </p:spPr>
      </p:sp>
      <p:sp>
        <p:nvSpPr>
          <p:cNvPr id="10" name="Image placeholder label"/>
          <p:cNvSpPr txBox="1"/>
          <p:nvPr/>
        </p:nvSpPr>
        <p:spPr>
          <a:xfrm>
            <a:off x="4526280" y="1234440"/>
            <a:ext cx="3136392" cy="2651760"/>
          </a:xfrm>
          <a:prstGeom prst="rect">
            <a:avLst/>
          </a:prstGeom>
          <a:noFill/>
          <a:ln/>
        </p:spPr>
        <p:txBody>
          <a:bodyPr wrap="square" rtlCol="0" anchor="ctr"/>
          <a:lstStyle/>
          <a:p>
            <a:pPr marL="0" indent="0" algn="ctr">
              <a:buNone/>
            </a:pPr>
            <a:r>
              <a:rPr lang="en-US" sz="1600" b="1" dirty="0">
                <a:solidFill>
                  <a:schemeClr val="tx2"/>
                </a:solidFill>
              </a:rPr>
              <a:t>PASTE IMAGE HERE</a:t>
            </a:r>
            <a:endParaRPr lang="en-US" sz="1600" dirty="0"/>
          </a:p>
          <a:p>
            <a:pPr marL="0" indent="0" algn="ctr">
              <a:buNone/>
            </a:pPr>
            <a:r>
              <a:rPr lang="en-US" sz="1200" dirty="0">
                <a:solidFill>
                  <a:schemeClr val="accent6"/>
                </a:solidFill>
              </a:rPr>
              <a:t>Admin dashboard screenshot</a:t>
            </a:r>
            <a:endParaRPr lang="en-US" sz="1600" dirty="0"/>
          </a:p>
        </p:txBody>
      </p:sp>
      <p:sp>
        <p:nvSpPr>
          <p:cNvPr id="11" name="Shape 9"/>
          <p:cNvSpPr/>
          <p:nvPr/>
        </p:nvSpPr>
        <p:spPr>
          <a:xfrm>
            <a:off x="4343400" y="4023360"/>
            <a:ext cx="3502152" cy="2011680"/>
          </a:xfrm>
          <a:prstGeom prst="rect">
            <a:avLst/>
          </a:prstGeom>
          <a:solidFill>
            <a:schemeClr val="bg1"/>
          </a:solidFill>
          <a:ln w="9525">
            <a:solidFill>
              <a:srgbClr val="E5E7EB"/>
            </a:solidFill>
            <a:prstDash val="solid"/>
          </a:ln>
          <a:effectLst>
            <a:outerShdw blurRad="76200" dist="25400" dir="5400000" algn="bl" rotWithShape="0">
              <a:srgbClr val="000000">
                <a:alpha val="15000"/>
              </a:srgbClr>
            </a:outerShdw>
          </a:effectLst>
        </p:spPr>
      </p:sp>
      <p:sp>
        <p:nvSpPr>
          <p:cNvPr id="12" name="Shape 10"/>
          <p:cNvSpPr/>
          <p:nvPr/>
        </p:nvSpPr>
        <p:spPr>
          <a:xfrm>
            <a:off x="4343400" y="4023360"/>
            <a:ext cx="82296" cy="2011680"/>
          </a:xfrm>
          <a:prstGeom prst="rect">
            <a:avLst/>
          </a:prstGeom>
          <a:solidFill>
            <a:schemeClr val="accent3"/>
          </a:solidFill>
          <a:ln w="12700">
            <a:solidFill>
              <a:schemeClr val="accent3"/>
            </a:solidFill>
            <a:prstDash val="solid"/>
          </a:ln>
        </p:spPr>
      </p:sp>
      <p:sp>
        <p:nvSpPr>
          <p:cNvPr id="13" name="Text 11"/>
          <p:cNvSpPr txBox="1"/>
          <p:nvPr/>
        </p:nvSpPr>
        <p:spPr>
          <a:xfrm>
            <a:off x="4572000" y="4114800"/>
            <a:ext cx="3136392" cy="411480"/>
          </a:xfrm>
          <a:prstGeom prst="rect">
            <a:avLst/>
          </a:prstGeom>
          <a:noFill/>
          <a:ln/>
        </p:spPr>
        <p:txBody>
          <a:bodyPr wrap="square" lIns="0" tIns="0" rIns="0" bIns="0" rtlCol="0" anchor="ctr"/>
          <a:lstStyle/>
          <a:p>
            <a:pPr marL="0" indent="0">
              <a:buNone/>
            </a:pPr>
            <a:r>
              <a:rPr lang="en-US" sz="1600" b="1" dirty="0">
                <a:solidFill>
                  <a:schemeClr val="tx2"/>
                </a:solidFill>
              </a:rPr>
              <a:t>ADMIN PANEL</a:t>
            </a:r>
            <a:endParaRPr lang="en-US" sz="1600" dirty="0"/>
          </a:p>
        </p:txBody>
      </p:sp>
      <p:sp>
        <p:nvSpPr>
          <p:cNvPr id="14" name="Text 12"/>
          <p:cNvSpPr txBox="1"/>
          <p:nvPr/>
        </p:nvSpPr>
        <p:spPr>
          <a:xfrm>
            <a:off x="4572000" y="4617720"/>
            <a:ext cx="3136392" cy="1325880"/>
          </a:xfrm>
          <a:prstGeom prst="rect">
            <a:avLst/>
          </a:prstGeom>
          <a:noFill/>
          <a:ln/>
        </p:spPr>
        <p:txBody>
          <a:bodyPr wrap="square" lIns="0" tIns="0" rIns="0" bIns="0" rtlCol="0" anchor="t"/>
          <a:lstStyle/>
          <a:p>
            <a:pPr marL="0" indent="0">
              <a:buNone/>
            </a:pPr>
            <a:r>
              <a:rPr lang="en-US" sz="1400" dirty="0">
                <a:solidFill>
                  <a:schemeClr val="tx1"/>
                </a:solidFill>
              </a:rPr>
              <a:t>Dashboard charts • Manage complaints • Status, priority &amp; remarks</a:t>
            </a:r>
            <a:endParaRPr lang="en-US" sz="1400" dirty="0"/>
          </a:p>
        </p:txBody>
      </p:sp>
      <p:sp>
        <p:nvSpPr>
          <p:cNvPr id="15" name="Image placeholder"/>
          <p:cNvSpPr/>
          <p:nvPr/>
        </p:nvSpPr>
        <p:spPr>
          <a:xfrm>
            <a:off x="8046720" y="1234440"/>
            <a:ext cx="3502152" cy="2651760"/>
          </a:xfrm>
          <a:prstGeom prst="rect">
            <a:avLst/>
          </a:prstGeom>
          <a:solidFill>
            <a:schemeClr val="bg2"/>
          </a:solidFill>
          <a:ln w="19050">
            <a:solidFill>
              <a:schemeClr val="tx2"/>
            </a:solidFill>
            <a:prstDash val="dash"/>
          </a:ln>
        </p:spPr>
      </p:sp>
      <p:sp>
        <p:nvSpPr>
          <p:cNvPr id="16" name="Image placeholder label"/>
          <p:cNvSpPr txBox="1"/>
          <p:nvPr/>
        </p:nvSpPr>
        <p:spPr>
          <a:xfrm>
            <a:off x="8229600" y="1234440"/>
            <a:ext cx="3136392" cy="2651760"/>
          </a:xfrm>
          <a:prstGeom prst="rect">
            <a:avLst/>
          </a:prstGeom>
          <a:noFill/>
          <a:ln/>
        </p:spPr>
        <p:txBody>
          <a:bodyPr wrap="square" rtlCol="0" anchor="ctr"/>
          <a:lstStyle/>
          <a:p>
            <a:pPr marL="0" indent="0" algn="ctr">
              <a:buNone/>
            </a:pPr>
            <a:r>
              <a:rPr lang="en-US" sz="1600" b="1" dirty="0">
                <a:solidFill>
                  <a:schemeClr val="tx2"/>
                </a:solidFill>
              </a:rPr>
              <a:t>PASTE IMAGE HERE</a:t>
            </a:r>
            <a:endParaRPr lang="en-US" sz="1600" dirty="0"/>
          </a:p>
          <a:p>
            <a:pPr marL="0" indent="0" algn="ctr">
              <a:buNone/>
            </a:pPr>
            <a:r>
              <a:rPr lang="en-US" sz="1200" dirty="0">
                <a:solidFill>
                  <a:schemeClr val="accent6"/>
                </a:solidFill>
              </a:rPr>
              <a:t>Reports page screenshot</a:t>
            </a:r>
            <a:endParaRPr lang="en-US" sz="1600" dirty="0"/>
          </a:p>
        </p:txBody>
      </p:sp>
      <p:sp>
        <p:nvSpPr>
          <p:cNvPr id="17" name="Shape 15"/>
          <p:cNvSpPr/>
          <p:nvPr/>
        </p:nvSpPr>
        <p:spPr>
          <a:xfrm>
            <a:off x="8046720" y="4023360"/>
            <a:ext cx="3502152" cy="2011680"/>
          </a:xfrm>
          <a:prstGeom prst="rect">
            <a:avLst/>
          </a:prstGeom>
          <a:solidFill>
            <a:schemeClr val="bg1"/>
          </a:solidFill>
          <a:ln w="9525">
            <a:solidFill>
              <a:srgbClr val="E5E7EB"/>
            </a:solidFill>
            <a:prstDash val="solid"/>
          </a:ln>
          <a:effectLst>
            <a:outerShdw blurRad="76200" dist="25400" dir="5400000" algn="bl" rotWithShape="0">
              <a:srgbClr val="000000">
                <a:alpha val="15000"/>
              </a:srgbClr>
            </a:outerShdw>
          </a:effectLst>
        </p:spPr>
      </p:sp>
      <p:sp>
        <p:nvSpPr>
          <p:cNvPr id="18" name="Shape 16"/>
          <p:cNvSpPr/>
          <p:nvPr/>
        </p:nvSpPr>
        <p:spPr>
          <a:xfrm>
            <a:off x="8046720" y="4023360"/>
            <a:ext cx="82296" cy="2011680"/>
          </a:xfrm>
          <a:prstGeom prst="rect">
            <a:avLst/>
          </a:prstGeom>
          <a:solidFill>
            <a:schemeClr val="accent1"/>
          </a:solidFill>
          <a:ln w="12700">
            <a:solidFill>
              <a:schemeClr val="accent1"/>
            </a:solidFill>
            <a:prstDash val="solid"/>
          </a:ln>
        </p:spPr>
      </p:sp>
      <p:sp>
        <p:nvSpPr>
          <p:cNvPr id="19" name="Text 17"/>
          <p:cNvSpPr txBox="1"/>
          <p:nvPr/>
        </p:nvSpPr>
        <p:spPr>
          <a:xfrm>
            <a:off x="8275320" y="4114800"/>
            <a:ext cx="3136392" cy="411480"/>
          </a:xfrm>
          <a:prstGeom prst="rect">
            <a:avLst/>
          </a:prstGeom>
          <a:noFill/>
          <a:ln/>
        </p:spPr>
        <p:txBody>
          <a:bodyPr wrap="square" lIns="0" tIns="0" rIns="0" bIns="0" rtlCol="0" anchor="ctr"/>
          <a:lstStyle/>
          <a:p>
            <a:pPr marL="0" indent="0">
              <a:buNone/>
            </a:pPr>
            <a:r>
              <a:rPr lang="en-US" sz="1600" b="1" dirty="0">
                <a:solidFill>
                  <a:schemeClr val="tx2"/>
                </a:solidFill>
              </a:rPr>
              <a:t>REPORTS &amp; STUDENTS</a:t>
            </a:r>
            <a:endParaRPr lang="en-US" sz="1600" dirty="0"/>
          </a:p>
        </p:txBody>
      </p:sp>
      <p:sp>
        <p:nvSpPr>
          <p:cNvPr id="20" name="Text 18"/>
          <p:cNvSpPr txBox="1"/>
          <p:nvPr/>
        </p:nvSpPr>
        <p:spPr>
          <a:xfrm>
            <a:off x="8275320" y="4617720"/>
            <a:ext cx="3136392" cy="1325880"/>
          </a:xfrm>
          <a:prstGeom prst="rect">
            <a:avLst/>
          </a:prstGeom>
          <a:noFill/>
          <a:ln/>
        </p:spPr>
        <p:txBody>
          <a:bodyPr wrap="square" lIns="0" tIns="0" rIns="0" bIns="0" rtlCol="0" anchor="t"/>
          <a:lstStyle/>
          <a:p>
            <a:pPr marL="0" indent="0">
              <a:buNone/>
            </a:pPr>
            <a:r>
              <a:rPr lang="en-US" sz="1400" dirty="0">
                <a:solidFill>
                  <a:schemeClr val="tx1"/>
                </a:solidFill>
              </a:rPr>
              <a:t>Student management • Complaint reports • Search &amp; filters</a:t>
            </a:r>
            <a:endParaRPr lang="en-US" sz="1400" dirty="0"/>
          </a:p>
        </p:txBody>
      </p:sp>
      <p:sp>
        <p:nvSpPr>
          <p:cNvPr id="25" name="Slide Number Placeholder 0"/>
          <p:cNvSpPr>
            <a:spLocks noGrp="1"/>
          </p:cNvSpPr>
          <p:nvPr>
            <p:ph type="sldNum" sz="quarter" idx="4294967295"/>
          </p:nvPr>
        </p:nvSpPr>
        <p:spPr>
          <a:xfrm>
            <a:off x="10789920" y="6400800"/>
            <a:ext cx="758952" cy="32004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1"/>
                </a:solidFill>
              </a:defRPr>
            </a:lvl1pPr>
          </a:lstStyle>
          <a:p>
            <a:pPr algn="r"/>
            <a:fld id="{F7021451-1387-4CA6-816F-3879F97B5CBC}" type="slidenum">
              <a:rPr lang="en-US" b="0"/>
              <a:t>9</a:t>
            </a:fld>
            <a:endParaRPr lang="en-US"/>
          </a:p>
        </p:txBody>
      </p:sp>
      <p:pic>
        <p:nvPicPr>
          <p:cNvPr id="22" name="Picture 21">
            <a:extLst>
              <a:ext uri="{FF2B5EF4-FFF2-40B4-BE49-F238E27FC236}">
                <a16:creationId xmlns:a16="http://schemas.microsoft.com/office/drawing/2014/main" id="{7F0457D9-E84F-84E1-24F4-75DA2E2BB07B}"/>
              </a:ext>
            </a:extLst>
          </p:cNvPr>
          <p:cNvPicPr>
            <a:picLocks noChangeAspect="1"/>
          </p:cNvPicPr>
          <p:nvPr/>
        </p:nvPicPr>
        <p:blipFill>
          <a:blip r:embed="rId3"/>
          <a:stretch>
            <a:fillRect/>
          </a:stretch>
        </p:blipFill>
        <p:spPr>
          <a:xfrm>
            <a:off x="621792" y="1234439"/>
            <a:ext cx="3538728" cy="2697481"/>
          </a:xfrm>
          <a:prstGeom prst="rect">
            <a:avLst/>
          </a:prstGeom>
        </p:spPr>
      </p:pic>
      <p:pic>
        <p:nvPicPr>
          <p:cNvPr id="24" name="Picture 23">
            <a:extLst>
              <a:ext uri="{FF2B5EF4-FFF2-40B4-BE49-F238E27FC236}">
                <a16:creationId xmlns:a16="http://schemas.microsoft.com/office/drawing/2014/main" id="{C092CB99-735B-63A8-C225-55BB5AFB8BC9}"/>
              </a:ext>
            </a:extLst>
          </p:cNvPr>
          <p:cNvPicPr>
            <a:picLocks noChangeAspect="1"/>
          </p:cNvPicPr>
          <p:nvPr/>
        </p:nvPicPr>
        <p:blipFill>
          <a:blip r:embed="rId4"/>
          <a:stretch>
            <a:fillRect/>
          </a:stretch>
        </p:blipFill>
        <p:spPr>
          <a:xfrm>
            <a:off x="4308920" y="1188719"/>
            <a:ext cx="3554920" cy="2697481"/>
          </a:xfrm>
          <a:prstGeom prst="rect">
            <a:avLst/>
          </a:prstGeom>
        </p:spPr>
      </p:pic>
      <p:pic>
        <p:nvPicPr>
          <p:cNvPr id="27" name="Picture 26">
            <a:extLst>
              <a:ext uri="{FF2B5EF4-FFF2-40B4-BE49-F238E27FC236}">
                <a16:creationId xmlns:a16="http://schemas.microsoft.com/office/drawing/2014/main" id="{CE4B6203-2AE8-6A6E-3856-2AF318FB933D}"/>
              </a:ext>
            </a:extLst>
          </p:cNvPr>
          <p:cNvPicPr>
            <a:picLocks noChangeAspect="1"/>
          </p:cNvPicPr>
          <p:nvPr/>
        </p:nvPicPr>
        <p:blipFill>
          <a:blip r:embed="rId5"/>
          <a:stretch>
            <a:fillRect/>
          </a:stretch>
        </p:blipFill>
        <p:spPr>
          <a:xfrm>
            <a:off x="7993952" y="1188719"/>
            <a:ext cx="3576256" cy="274320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4"/>
          <p:cNvSpPr>
            <a:spLocks noGrp="1"/>
          </p:cNvSpPr>
          <p:nvPr>
            <p:ph type="title" idx="104" hasCustomPrompt="1"/>
          </p:nvPr>
        </p:nvSpPr>
        <p:spPr>
          <a:xfrm>
            <a:off x="640080" y="274320"/>
            <a:ext cx="10908792" cy="548640"/>
          </a:xfrm>
          <a:prstGeom prst="rect">
            <a:avLst/>
          </a:prstGeom>
          <a:noFill/>
          <a:ln/>
        </p:spPr>
        <p:txBody>
          <a:bodyPr wrap="square" lIns="0" tIns="0" rIns="0" bIns="0" rtlCol="0" anchor="ctr"/>
          <a:lstStyle/>
          <a:p>
            <a:pPr marL="0" indent="0" algn="ctr">
              <a:buNone/>
            </a:pPr>
            <a:r>
              <a:rPr lang="en-US" sz="2600" b="1" dirty="0">
                <a:solidFill>
                  <a:schemeClr val="tx2"/>
                </a:solidFill>
              </a:rPr>
              <a:t>METHODOLOGY</a:t>
            </a:r>
            <a:endParaRPr lang="en-US" sz="2600" dirty="0"/>
          </a:p>
        </p:txBody>
      </p:sp>
      <p:sp>
        <p:nvSpPr>
          <p:cNvPr id="3" name="Text 1"/>
          <p:cNvSpPr txBox="1"/>
          <p:nvPr/>
        </p:nvSpPr>
        <p:spPr>
          <a:xfrm>
            <a:off x="640080" y="1188720"/>
            <a:ext cx="10908792" cy="457200"/>
          </a:xfrm>
          <a:prstGeom prst="rect">
            <a:avLst/>
          </a:prstGeom>
          <a:noFill/>
          <a:ln/>
        </p:spPr>
        <p:txBody>
          <a:bodyPr wrap="square" lIns="0" tIns="0" rIns="0" bIns="0" rtlCol="0" anchor="ctr"/>
          <a:lstStyle/>
          <a:p>
            <a:pPr marL="0" indent="0" algn="ctr">
              <a:buNone/>
            </a:pPr>
            <a:r>
              <a:rPr lang="en-US" sz="2000" b="1" dirty="0">
                <a:solidFill>
                  <a:schemeClr val="tx2"/>
                </a:solidFill>
              </a:rPr>
              <a:t>How the web application works</a:t>
            </a:r>
            <a:endParaRPr lang="en-US" sz="2000" dirty="0"/>
          </a:p>
        </p:txBody>
      </p:sp>
      <p:sp>
        <p:nvSpPr>
          <p:cNvPr id="4" name="Shape 2"/>
          <p:cNvSpPr/>
          <p:nvPr/>
        </p:nvSpPr>
        <p:spPr>
          <a:xfrm>
            <a:off x="640080" y="2194560"/>
            <a:ext cx="1508760" cy="2286000"/>
          </a:xfrm>
          <a:prstGeom prst="rect">
            <a:avLst/>
          </a:prstGeom>
          <a:solidFill>
            <a:schemeClr val="bg1"/>
          </a:solidFill>
          <a:ln w="9525">
            <a:solidFill>
              <a:srgbClr val="E5E7EB"/>
            </a:solidFill>
            <a:prstDash val="solid"/>
          </a:ln>
          <a:effectLst>
            <a:outerShdw blurRad="76200" dist="25400" dir="5400000" algn="bl" rotWithShape="0">
              <a:srgbClr val="000000">
                <a:alpha val="15000"/>
              </a:srgbClr>
            </a:outerShdw>
          </a:effectLst>
        </p:spPr>
      </p:sp>
      <p:sp>
        <p:nvSpPr>
          <p:cNvPr id="5" name="Text 3"/>
          <p:cNvSpPr txBox="1"/>
          <p:nvPr/>
        </p:nvSpPr>
        <p:spPr>
          <a:xfrm>
            <a:off x="640080" y="2286000"/>
            <a:ext cx="1508760" cy="548640"/>
          </a:xfrm>
          <a:prstGeom prst="rect">
            <a:avLst/>
          </a:prstGeom>
          <a:noFill/>
          <a:ln/>
        </p:spPr>
        <p:txBody>
          <a:bodyPr wrap="square" lIns="0" tIns="0" rIns="0" bIns="0" rtlCol="0" anchor="ctr"/>
          <a:lstStyle/>
          <a:p>
            <a:pPr marL="0" indent="0" algn="ctr">
              <a:buNone/>
            </a:pPr>
            <a:r>
              <a:rPr lang="en-US" sz="2800" b="1" dirty="0">
                <a:solidFill>
                  <a:schemeClr val="accent1"/>
                </a:solidFill>
              </a:rPr>
              <a:t>1</a:t>
            </a:r>
            <a:endParaRPr lang="en-US" sz="2800" dirty="0"/>
          </a:p>
        </p:txBody>
      </p:sp>
      <p:sp>
        <p:nvSpPr>
          <p:cNvPr id="6" name="Text 4"/>
          <p:cNvSpPr txBox="1"/>
          <p:nvPr/>
        </p:nvSpPr>
        <p:spPr>
          <a:xfrm>
            <a:off x="685800" y="2880360"/>
            <a:ext cx="1417320" cy="640080"/>
          </a:xfrm>
          <a:prstGeom prst="rect">
            <a:avLst/>
          </a:prstGeom>
          <a:noFill/>
          <a:ln/>
        </p:spPr>
        <p:txBody>
          <a:bodyPr wrap="square" lIns="0" tIns="0" rIns="0" bIns="0" rtlCol="0" anchor="ctr"/>
          <a:lstStyle/>
          <a:p>
            <a:pPr marL="0" indent="0" algn="ctr">
              <a:buNone/>
            </a:pPr>
            <a:r>
              <a:rPr lang="en-US" sz="1400" b="1" dirty="0">
                <a:solidFill>
                  <a:schemeClr val="tx2"/>
                </a:solidFill>
              </a:rPr>
              <a:t>User Interface</a:t>
            </a:r>
            <a:endParaRPr lang="en-US" sz="1400" dirty="0"/>
          </a:p>
        </p:txBody>
      </p:sp>
      <p:sp>
        <p:nvSpPr>
          <p:cNvPr id="7" name="Text 5"/>
          <p:cNvSpPr txBox="1"/>
          <p:nvPr/>
        </p:nvSpPr>
        <p:spPr>
          <a:xfrm>
            <a:off x="685800" y="3566160"/>
            <a:ext cx="1417320" cy="822960"/>
          </a:xfrm>
          <a:prstGeom prst="rect">
            <a:avLst/>
          </a:prstGeom>
          <a:noFill/>
          <a:ln/>
        </p:spPr>
        <p:txBody>
          <a:bodyPr wrap="square" lIns="0" tIns="0" rIns="0" bIns="0" rtlCol="0" anchor="t"/>
          <a:lstStyle/>
          <a:p>
            <a:pPr marL="0" indent="0" algn="ctr">
              <a:buNone/>
            </a:pPr>
            <a:r>
              <a:rPr lang="en-US" sz="1200" dirty="0">
                <a:solidFill>
                  <a:schemeClr val="accent6"/>
                </a:solidFill>
              </a:rPr>
              <a:t>HTML + CSS + EJS</a:t>
            </a:r>
            <a:endParaRPr lang="en-US" sz="1200" dirty="0"/>
          </a:p>
        </p:txBody>
      </p:sp>
      <p:sp>
        <p:nvSpPr>
          <p:cNvPr id="8" name="Shape 6"/>
          <p:cNvSpPr/>
          <p:nvPr/>
        </p:nvSpPr>
        <p:spPr>
          <a:xfrm>
            <a:off x="2194560" y="3154680"/>
            <a:ext cx="274320" cy="320040"/>
          </a:xfrm>
          <a:prstGeom prst="rightArrow">
            <a:avLst/>
          </a:prstGeom>
          <a:solidFill>
            <a:schemeClr val="accent1"/>
          </a:solidFill>
          <a:ln w="12700">
            <a:solidFill>
              <a:schemeClr val="accent1"/>
            </a:solidFill>
            <a:prstDash val="solid"/>
          </a:ln>
        </p:spPr>
      </p:sp>
      <p:sp>
        <p:nvSpPr>
          <p:cNvPr id="9" name="Shape 7"/>
          <p:cNvSpPr/>
          <p:nvPr/>
        </p:nvSpPr>
        <p:spPr>
          <a:xfrm>
            <a:off x="2514600" y="2194560"/>
            <a:ext cx="1508760" cy="2286000"/>
          </a:xfrm>
          <a:prstGeom prst="rect">
            <a:avLst/>
          </a:prstGeom>
          <a:solidFill>
            <a:schemeClr val="bg1"/>
          </a:solidFill>
          <a:ln w="9525">
            <a:solidFill>
              <a:srgbClr val="E5E7EB"/>
            </a:solidFill>
            <a:prstDash val="solid"/>
          </a:ln>
          <a:effectLst>
            <a:outerShdw blurRad="76200" dist="25400" dir="5400000" algn="bl" rotWithShape="0">
              <a:srgbClr val="000000">
                <a:alpha val="15000"/>
              </a:srgbClr>
            </a:outerShdw>
          </a:effectLst>
        </p:spPr>
      </p:sp>
      <p:sp>
        <p:nvSpPr>
          <p:cNvPr id="10" name="Text 8"/>
          <p:cNvSpPr txBox="1"/>
          <p:nvPr/>
        </p:nvSpPr>
        <p:spPr>
          <a:xfrm>
            <a:off x="2514600" y="2286000"/>
            <a:ext cx="1508760" cy="548640"/>
          </a:xfrm>
          <a:prstGeom prst="rect">
            <a:avLst/>
          </a:prstGeom>
          <a:noFill/>
          <a:ln/>
        </p:spPr>
        <p:txBody>
          <a:bodyPr wrap="square" lIns="0" tIns="0" rIns="0" bIns="0" rtlCol="0" anchor="ctr"/>
          <a:lstStyle/>
          <a:p>
            <a:pPr marL="0" indent="0" algn="ctr">
              <a:buNone/>
            </a:pPr>
            <a:r>
              <a:rPr lang="en-US" sz="2800" b="1" dirty="0">
                <a:solidFill>
                  <a:schemeClr val="accent1"/>
                </a:solidFill>
              </a:rPr>
              <a:t>2</a:t>
            </a:r>
            <a:endParaRPr lang="en-US" sz="2800" dirty="0"/>
          </a:p>
        </p:txBody>
      </p:sp>
      <p:sp>
        <p:nvSpPr>
          <p:cNvPr id="11" name="Text 9"/>
          <p:cNvSpPr txBox="1"/>
          <p:nvPr/>
        </p:nvSpPr>
        <p:spPr>
          <a:xfrm>
            <a:off x="2560320" y="2880360"/>
            <a:ext cx="1417320" cy="640080"/>
          </a:xfrm>
          <a:prstGeom prst="rect">
            <a:avLst/>
          </a:prstGeom>
          <a:noFill/>
          <a:ln/>
        </p:spPr>
        <p:txBody>
          <a:bodyPr wrap="square" lIns="0" tIns="0" rIns="0" bIns="0" rtlCol="0" anchor="ctr"/>
          <a:lstStyle/>
          <a:p>
            <a:pPr marL="0" indent="0" algn="ctr">
              <a:buNone/>
            </a:pPr>
            <a:r>
              <a:rPr lang="en-US" sz="1400" b="1" dirty="0">
                <a:solidFill>
                  <a:schemeClr val="tx2"/>
                </a:solidFill>
              </a:rPr>
              <a:t>Interaction</a:t>
            </a:r>
            <a:endParaRPr lang="en-US" sz="1400" dirty="0"/>
          </a:p>
        </p:txBody>
      </p:sp>
      <p:sp>
        <p:nvSpPr>
          <p:cNvPr id="12" name="Text 10"/>
          <p:cNvSpPr txBox="1"/>
          <p:nvPr/>
        </p:nvSpPr>
        <p:spPr>
          <a:xfrm>
            <a:off x="2560320" y="3566160"/>
            <a:ext cx="1417320" cy="822960"/>
          </a:xfrm>
          <a:prstGeom prst="rect">
            <a:avLst/>
          </a:prstGeom>
          <a:noFill/>
          <a:ln/>
        </p:spPr>
        <p:txBody>
          <a:bodyPr wrap="square" lIns="0" tIns="0" rIns="0" bIns="0" rtlCol="0" anchor="t"/>
          <a:lstStyle/>
          <a:p>
            <a:pPr marL="0" indent="0" algn="ctr">
              <a:buNone/>
            </a:pPr>
            <a:r>
              <a:rPr lang="en-US" sz="1200" dirty="0">
                <a:solidFill>
                  <a:schemeClr val="accent6"/>
                </a:solidFill>
              </a:rPr>
              <a:t>JavaScript + DOM + Events</a:t>
            </a:r>
            <a:endParaRPr lang="en-US" sz="1200" dirty="0"/>
          </a:p>
        </p:txBody>
      </p:sp>
      <p:sp>
        <p:nvSpPr>
          <p:cNvPr id="13" name="Shape 11"/>
          <p:cNvSpPr/>
          <p:nvPr/>
        </p:nvSpPr>
        <p:spPr>
          <a:xfrm>
            <a:off x="4069080" y="3154680"/>
            <a:ext cx="274320" cy="320040"/>
          </a:xfrm>
          <a:prstGeom prst="rightArrow">
            <a:avLst/>
          </a:prstGeom>
          <a:solidFill>
            <a:schemeClr val="accent1"/>
          </a:solidFill>
          <a:ln w="12700">
            <a:solidFill>
              <a:schemeClr val="accent1"/>
            </a:solidFill>
            <a:prstDash val="solid"/>
          </a:ln>
        </p:spPr>
      </p:sp>
      <p:sp>
        <p:nvSpPr>
          <p:cNvPr id="14" name="Shape 12"/>
          <p:cNvSpPr/>
          <p:nvPr/>
        </p:nvSpPr>
        <p:spPr>
          <a:xfrm>
            <a:off x="4389120" y="2194560"/>
            <a:ext cx="1508760" cy="2286000"/>
          </a:xfrm>
          <a:prstGeom prst="rect">
            <a:avLst/>
          </a:prstGeom>
          <a:solidFill>
            <a:schemeClr val="bg1"/>
          </a:solidFill>
          <a:ln w="9525">
            <a:solidFill>
              <a:srgbClr val="E5E7EB"/>
            </a:solidFill>
            <a:prstDash val="solid"/>
          </a:ln>
          <a:effectLst>
            <a:outerShdw blurRad="76200" dist="25400" dir="5400000" algn="bl" rotWithShape="0">
              <a:srgbClr val="000000">
                <a:alpha val="15000"/>
              </a:srgbClr>
            </a:outerShdw>
          </a:effectLst>
        </p:spPr>
      </p:sp>
      <p:sp>
        <p:nvSpPr>
          <p:cNvPr id="15" name="Text 13"/>
          <p:cNvSpPr txBox="1"/>
          <p:nvPr/>
        </p:nvSpPr>
        <p:spPr>
          <a:xfrm>
            <a:off x="4389120" y="2286000"/>
            <a:ext cx="1508760" cy="548640"/>
          </a:xfrm>
          <a:prstGeom prst="rect">
            <a:avLst/>
          </a:prstGeom>
          <a:noFill/>
          <a:ln/>
        </p:spPr>
        <p:txBody>
          <a:bodyPr wrap="square" lIns="0" tIns="0" rIns="0" bIns="0" rtlCol="0" anchor="ctr"/>
          <a:lstStyle/>
          <a:p>
            <a:pPr marL="0" indent="0" algn="ctr">
              <a:buNone/>
            </a:pPr>
            <a:r>
              <a:rPr lang="en-US" sz="2800" b="1" dirty="0">
                <a:solidFill>
                  <a:schemeClr val="accent1"/>
                </a:solidFill>
              </a:rPr>
              <a:t>3</a:t>
            </a:r>
            <a:endParaRPr lang="en-US" sz="2800" dirty="0"/>
          </a:p>
        </p:txBody>
      </p:sp>
      <p:sp>
        <p:nvSpPr>
          <p:cNvPr id="16" name="Text 14"/>
          <p:cNvSpPr txBox="1"/>
          <p:nvPr/>
        </p:nvSpPr>
        <p:spPr>
          <a:xfrm>
            <a:off x="4434840" y="2880360"/>
            <a:ext cx="1417320" cy="640080"/>
          </a:xfrm>
          <a:prstGeom prst="rect">
            <a:avLst/>
          </a:prstGeom>
          <a:noFill/>
          <a:ln/>
        </p:spPr>
        <p:txBody>
          <a:bodyPr wrap="square" lIns="0" tIns="0" rIns="0" bIns="0" rtlCol="0" anchor="ctr"/>
          <a:lstStyle/>
          <a:p>
            <a:pPr marL="0" indent="0" algn="ctr">
              <a:buNone/>
            </a:pPr>
            <a:r>
              <a:rPr lang="en-US" sz="1400" b="1" dirty="0">
                <a:solidFill>
                  <a:schemeClr val="tx2"/>
                </a:solidFill>
              </a:rPr>
              <a:t>Communication</a:t>
            </a:r>
            <a:endParaRPr lang="en-US" sz="1400" dirty="0"/>
          </a:p>
        </p:txBody>
      </p:sp>
      <p:sp>
        <p:nvSpPr>
          <p:cNvPr id="17" name="Text 15"/>
          <p:cNvSpPr txBox="1"/>
          <p:nvPr/>
        </p:nvSpPr>
        <p:spPr>
          <a:xfrm>
            <a:off x="4434840" y="3566160"/>
            <a:ext cx="1417320" cy="822960"/>
          </a:xfrm>
          <a:prstGeom prst="rect">
            <a:avLst/>
          </a:prstGeom>
          <a:noFill/>
          <a:ln/>
        </p:spPr>
        <p:txBody>
          <a:bodyPr wrap="square" lIns="0" tIns="0" rIns="0" bIns="0" rtlCol="0" anchor="t"/>
          <a:lstStyle/>
          <a:p>
            <a:pPr marL="0" indent="0" algn="ctr">
              <a:buNone/>
            </a:pPr>
            <a:r>
              <a:rPr lang="en-US" sz="1200" dirty="0">
                <a:solidFill>
                  <a:schemeClr val="accent6"/>
                </a:solidFill>
              </a:rPr>
              <a:t>HTTP Forms + Routes</a:t>
            </a:r>
            <a:endParaRPr lang="en-US" sz="1200" dirty="0"/>
          </a:p>
        </p:txBody>
      </p:sp>
      <p:sp>
        <p:nvSpPr>
          <p:cNvPr id="18" name="Shape 16"/>
          <p:cNvSpPr/>
          <p:nvPr/>
        </p:nvSpPr>
        <p:spPr>
          <a:xfrm>
            <a:off x="5943600" y="3154680"/>
            <a:ext cx="274320" cy="320040"/>
          </a:xfrm>
          <a:prstGeom prst="rightArrow">
            <a:avLst/>
          </a:prstGeom>
          <a:solidFill>
            <a:schemeClr val="accent1"/>
          </a:solidFill>
          <a:ln w="12700">
            <a:solidFill>
              <a:schemeClr val="accent1"/>
            </a:solidFill>
            <a:prstDash val="solid"/>
          </a:ln>
        </p:spPr>
      </p:sp>
      <p:sp>
        <p:nvSpPr>
          <p:cNvPr id="19" name="Shape 17"/>
          <p:cNvSpPr/>
          <p:nvPr/>
        </p:nvSpPr>
        <p:spPr>
          <a:xfrm>
            <a:off x="6263640" y="2194560"/>
            <a:ext cx="1508760" cy="2286000"/>
          </a:xfrm>
          <a:prstGeom prst="rect">
            <a:avLst/>
          </a:prstGeom>
          <a:solidFill>
            <a:schemeClr val="bg1"/>
          </a:solidFill>
          <a:ln w="9525">
            <a:solidFill>
              <a:srgbClr val="E5E7EB"/>
            </a:solidFill>
            <a:prstDash val="solid"/>
          </a:ln>
          <a:effectLst>
            <a:outerShdw blurRad="76200" dist="25400" dir="5400000" algn="bl" rotWithShape="0">
              <a:srgbClr val="000000">
                <a:alpha val="15000"/>
              </a:srgbClr>
            </a:outerShdw>
          </a:effectLst>
        </p:spPr>
      </p:sp>
      <p:sp>
        <p:nvSpPr>
          <p:cNvPr id="20" name="Text 18"/>
          <p:cNvSpPr txBox="1"/>
          <p:nvPr/>
        </p:nvSpPr>
        <p:spPr>
          <a:xfrm>
            <a:off x="6263640" y="2286000"/>
            <a:ext cx="1508760" cy="548640"/>
          </a:xfrm>
          <a:prstGeom prst="rect">
            <a:avLst/>
          </a:prstGeom>
          <a:noFill/>
          <a:ln/>
        </p:spPr>
        <p:txBody>
          <a:bodyPr wrap="square" lIns="0" tIns="0" rIns="0" bIns="0" rtlCol="0" anchor="ctr"/>
          <a:lstStyle/>
          <a:p>
            <a:pPr marL="0" indent="0" algn="ctr">
              <a:buNone/>
            </a:pPr>
            <a:r>
              <a:rPr lang="en-US" sz="2800" b="1" dirty="0">
                <a:solidFill>
                  <a:schemeClr val="accent1"/>
                </a:solidFill>
              </a:rPr>
              <a:t>4</a:t>
            </a:r>
            <a:endParaRPr lang="en-US" sz="2800" dirty="0"/>
          </a:p>
        </p:txBody>
      </p:sp>
      <p:sp>
        <p:nvSpPr>
          <p:cNvPr id="21" name="Text 19"/>
          <p:cNvSpPr txBox="1"/>
          <p:nvPr/>
        </p:nvSpPr>
        <p:spPr>
          <a:xfrm>
            <a:off x="6309360" y="2880360"/>
            <a:ext cx="1417320" cy="640080"/>
          </a:xfrm>
          <a:prstGeom prst="rect">
            <a:avLst/>
          </a:prstGeom>
          <a:noFill/>
          <a:ln/>
        </p:spPr>
        <p:txBody>
          <a:bodyPr wrap="square" lIns="0" tIns="0" rIns="0" bIns="0" rtlCol="0" anchor="ctr"/>
          <a:lstStyle/>
          <a:p>
            <a:pPr marL="0" indent="0" algn="ctr">
              <a:buNone/>
            </a:pPr>
            <a:r>
              <a:rPr lang="en-US" sz="1400" b="1" dirty="0">
                <a:solidFill>
                  <a:schemeClr val="tx2"/>
                </a:solidFill>
              </a:rPr>
              <a:t>Server Logic</a:t>
            </a:r>
            <a:endParaRPr lang="en-US" sz="1400" dirty="0"/>
          </a:p>
        </p:txBody>
      </p:sp>
      <p:sp>
        <p:nvSpPr>
          <p:cNvPr id="22" name="Text 20"/>
          <p:cNvSpPr txBox="1"/>
          <p:nvPr/>
        </p:nvSpPr>
        <p:spPr>
          <a:xfrm>
            <a:off x="6309360" y="3566160"/>
            <a:ext cx="1417320" cy="822960"/>
          </a:xfrm>
          <a:prstGeom prst="rect">
            <a:avLst/>
          </a:prstGeom>
          <a:noFill/>
          <a:ln/>
        </p:spPr>
        <p:txBody>
          <a:bodyPr wrap="square" lIns="0" tIns="0" rIns="0" bIns="0" rtlCol="0" anchor="t"/>
          <a:lstStyle/>
          <a:p>
            <a:pPr marL="0" indent="0" algn="ctr">
              <a:buNone/>
            </a:pPr>
            <a:r>
              <a:rPr lang="en-US" sz="1200" dirty="0">
                <a:solidFill>
                  <a:schemeClr val="accent6"/>
                </a:solidFill>
              </a:rPr>
              <a:t>Node.js + Express.js</a:t>
            </a:r>
            <a:endParaRPr lang="en-US" sz="1200" dirty="0"/>
          </a:p>
        </p:txBody>
      </p:sp>
      <p:sp>
        <p:nvSpPr>
          <p:cNvPr id="23" name="Shape 21"/>
          <p:cNvSpPr/>
          <p:nvPr/>
        </p:nvSpPr>
        <p:spPr>
          <a:xfrm>
            <a:off x="7818120" y="3154680"/>
            <a:ext cx="274320" cy="320040"/>
          </a:xfrm>
          <a:prstGeom prst="rightArrow">
            <a:avLst/>
          </a:prstGeom>
          <a:solidFill>
            <a:schemeClr val="accent1"/>
          </a:solidFill>
          <a:ln w="12700">
            <a:solidFill>
              <a:schemeClr val="accent1"/>
            </a:solidFill>
            <a:prstDash val="solid"/>
          </a:ln>
        </p:spPr>
      </p:sp>
      <p:sp>
        <p:nvSpPr>
          <p:cNvPr id="24" name="Shape 22"/>
          <p:cNvSpPr/>
          <p:nvPr/>
        </p:nvSpPr>
        <p:spPr>
          <a:xfrm>
            <a:off x="8138160" y="2194560"/>
            <a:ext cx="1508760" cy="2286000"/>
          </a:xfrm>
          <a:prstGeom prst="rect">
            <a:avLst/>
          </a:prstGeom>
          <a:solidFill>
            <a:schemeClr val="bg1"/>
          </a:solidFill>
          <a:ln w="9525">
            <a:solidFill>
              <a:srgbClr val="E5E7EB"/>
            </a:solidFill>
            <a:prstDash val="solid"/>
          </a:ln>
          <a:effectLst>
            <a:outerShdw blurRad="76200" dist="25400" dir="5400000" algn="bl" rotWithShape="0">
              <a:srgbClr val="000000">
                <a:alpha val="15000"/>
              </a:srgbClr>
            </a:outerShdw>
          </a:effectLst>
        </p:spPr>
      </p:sp>
      <p:sp>
        <p:nvSpPr>
          <p:cNvPr id="25" name="Text 23"/>
          <p:cNvSpPr txBox="1"/>
          <p:nvPr/>
        </p:nvSpPr>
        <p:spPr>
          <a:xfrm>
            <a:off x="8138160" y="2286000"/>
            <a:ext cx="1508760" cy="548640"/>
          </a:xfrm>
          <a:prstGeom prst="rect">
            <a:avLst/>
          </a:prstGeom>
          <a:noFill/>
          <a:ln/>
        </p:spPr>
        <p:txBody>
          <a:bodyPr wrap="square" lIns="0" tIns="0" rIns="0" bIns="0" rtlCol="0" anchor="ctr"/>
          <a:lstStyle/>
          <a:p>
            <a:pPr marL="0" indent="0" algn="ctr">
              <a:buNone/>
            </a:pPr>
            <a:r>
              <a:rPr lang="en-US" sz="2800" b="1" dirty="0">
                <a:solidFill>
                  <a:schemeClr val="accent1"/>
                </a:solidFill>
              </a:rPr>
              <a:t>5</a:t>
            </a:r>
            <a:endParaRPr lang="en-US" sz="2800" dirty="0"/>
          </a:p>
        </p:txBody>
      </p:sp>
      <p:sp>
        <p:nvSpPr>
          <p:cNvPr id="26" name="Text 24"/>
          <p:cNvSpPr txBox="1"/>
          <p:nvPr/>
        </p:nvSpPr>
        <p:spPr>
          <a:xfrm>
            <a:off x="8183880" y="2880360"/>
            <a:ext cx="1417320" cy="640080"/>
          </a:xfrm>
          <a:prstGeom prst="rect">
            <a:avLst/>
          </a:prstGeom>
          <a:noFill/>
          <a:ln/>
        </p:spPr>
        <p:txBody>
          <a:bodyPr wrap="square" lIns="0" tIns="0" rIns="0" bIns="0" rtlCol="0" anchor="ctr"/>
          <a:lstStyle/>
          <a:p>
            <a:pPr marL="0" indent="0" algn="ctr">
              <a:buNone/>
            </a:pPr>
            <a:r>
              <a:rPr lang="en-US" sz="1400" b="1" dirty="0">
                <a:solidFill>
                  <a:schemeClr val="tx2"/>
                </a:solidFill>
              </a:rPr>
              <a:t>Data Layer</a:t>
            </a:r>
            <a:endParaRPr lang="en-US" sz="1400" dirty="0"/>
          </a:p>
        </p:txBody>
      </p:sp>
      <p:sp>
        <p:nvSpPr>
          <p:cNvPr id="27" name="Text 25"/>
          <p:cNvSpPr txBox="1"/>
          <p:nvPr/>
        </p:nvSpPr>
        <p:spPr>
          <a:xfrm>
            <a:off x="8183880" y="3566160"/>
            <a:ext cx="1417320" cy="822960"/>
          </a:xfrm>
          <a:prstGeom prst="rect">
            <a:avLst/>
          </a:prstGeom>
          <a:noFill/>
          <a:ln/>
        </p:spPr>
        <p:txBody>
          <a:bodyPr wrap="square" lIns="0" tIns="0" rIns="0" bIns="0" rtlCol="0" anchor="t"/>
          <a:lstStyle/>
          <a:p>
            <a:pPr marL="0" indent="0" algn="ctr">
              <a:buNone/>
            </a:pPr>
            <a:r>
              <a:rPr lang="en-US" sz="1200" dirty="0">
                <a:solidFill>
                  <a:schemeClr val="accent6"/>
                </a:solidFill>
              </a:rPr>
              <a:t>MySQL (mysql2)</a:t>
            </a:r>
            <a:endParaRPr lang="en-US" sz="1200" dirty="0"/>
          </a:p>
        </p:txBody>
      </p:sp>
      <p:sp>
        <p:nvSpPr>
          <p:cNvPr id="28" name="Shape 26"/>
          <p:cNvSpPr/>
          <p:nvPr/>
        </p:nvSpPr>
        <p:spPr>
          <a:xfrm>
            <a:off x="9692640" y="3154680"/>
            <a:ext cx="274320" cy="320040"/>
          </a:xfrm>
          <a:prstGeom prst="rightArrow">
            <a:avLst/>
          </a:prstGeom>
          <a:solidFill>
            <a:schemeClr val="accent1"/>
          </a:solidFill>
          <a:ln w="12700">
            <a:solidFill>
              <a:schemeClr val="accent1"/>
            </a:solidFill>
            <a:prstDash val="solid"/>
          </a:ln>
        </p:spPr>
      </p:sp>
      <p:sp>
        <p:nvSpPr>
          <p:cNvPr id="29" name="Shape 27"/>
          <p:cNvSpPr/>
          <p:nvPr/>
        </p:nvSpPr>
        <p:spPr>
          <a:xfrm>
            <a:off x="10012680" y="2194560"/>
            <a:ext cx="1508760" cy="2286000"/>
          </a:xfrm>
          <a:prstGeom prst="rect">
            <a:avLst/>
          </a:prstGeom>
          <a:solidFill>
            <a:schemeClr val="bg1"/>
          </a:solidFill>
          <a:ln w="9525">
            <a:solidFill>
              <a:srgbClr val="E5E7EB"/>
            </a:solidFill>
            <a:prstDash val="solid"/>
          </a:ln>
          <a:effectLst>
            <a:outerShdw blurRad="76200" dist="25400" dir="5400000" algn="bl" rotWithShape="0">
              <a:srgbClr val="000000">
                <a:alpha val="15000"/>
              </a:srgbClr>
            </a:outerShdw>
          </a:effectLst>
        </p:spPr>
      </p:sp>
      <p:sp>
        <p:nvSpPr>
          <p:cNvPr id="30" name="Text 28"/>
          <p:cNvSpPr txBox="1"/>
          <p:nvPr/>
        </p:nvSpPr>
        <p:spPr>
          <a:xfrm>
            <a:off x="10012680" y="2286000"/>
            <a:ext cx="1508760" cy="548640"/>
          </a:xfrm>
          <a:prstGeom prst="rect">
            <a:avLst/>
          </a:prstGeom>
          <a:noFill/>
          <a:ln/>
        </p:spPr>
        <p:txBody>
          <a:bodyPr wrap="square" lIns="0" tIns="0" rIns="0" bIns="0" rtlCol="0" anchor="ctr"/>
          <a:lstStyle/>
          <a:p>
            <a:pPr marL="0" indent="0" algn="ctr">
              <a:buNone/>
            </a:pPr>
            <a:r>
              <a:rPr lang="en-US" sz="2800" b="1" dirty="0">
                <a:solidFill>
                  <a:schemeClr val="accent1"/>
                </a:solidFill>
              </a:rPr>
              <a:t>6</a:t>
            </a:r>
            <a:endParaRPr lang="en-US" sz="2800" dirty="0"/>
          </a:p>
        </p:txBody>
      </p:sp>
      <p:sp>
        <p:nvSpPr>
          <p:cNvPr id="31" name="Text 29"/>
          <p:cNvSpPr txBox="1"/>
          <p:nvPr/>
        </p:nvSpPr>
        <p:spPr>
          <a:xfrm>
            <a:off x="10058400" y="2880360"/>
            <a:ext cx="1417320" cy="640080"/>
          </a:xfrm>
          <a:prstGeom prst="rect">
            <a:avLst/>
          </a:prstGeom>
          <a:noFill/>
          <a:ln/>
        </p:spPr>
        <p:txBody>
          <a:bodyPr wrap="square" lIns="0" tIns="0" rIns="0" bIns="0" rtlCol="0" anchor="ctr"/>
          <a:lstStyle/>
          <a:p>
            <a:pPr marL="0" indent="0" algn="ctr">
              <a:buNone/>
            </a:pPr>
            <a:r>
              <a:rPr lang="en-US" sz="1400" b="1" dirty="0">
                <a:solidFill>
                  <a:schemeClr val="tx2"/>
                </a:solidFill>
              </a:rPr>
              <a:t>Security</a:t>
            </a:r>
            <a:endParaRPr lang="en-US" sz="1400" dirty="0"/>
          </a:p>
        </p:txBody>
      </p:sp>
      <p:sp>
        <p:nvSpPr>
          <p:cNvPr id="32" name="Text 30"/>
          <p:cNvSpPr txBox="1"/>
          <p:nvPr/>
        </p:nvSpPr>
        <p:spPr>
          <a:xfrm>
            <a:off x="10058400" y="3566160"/>
            <a:ext cx="1417320" cy="822960"/>
          </a:xfrm>
          <a:prstGeom prst="rect">
            <a:avLst/>
          </a:prstGeom>
          <a:noFill/>
          <a:ln/>
        </p:spPr>
        <p:txBody>
          <a:bodyPr wrap="square" lIns="0" tIns="0" rIns="0" bIns="0" rtlCol="0" anchor="t"/>
          <a:lstStyle/>
          <a:p>
            <a:pPr marL="0" indent="0" algn="ctr">
              <a:buNone/>
            </a:pPr>
            <a:r>
              <a:rPr lang="en-US" sz="1200" dirty="0">
                <a:solidFill>
                  <a:schemeClr val="accent6"/>
                </a:solidFill>
              </a:rPr>
              <a:t>Sessions + bcryptjs</a:t>
            </a:r>
            <a:endParaRPr lang="en-US" sz="1200" dirty="0"/>
          </a:p>
        </p:txBody>
      </p:sp>
      <p:sp>
        <p:nvSpPr>
          <p:cNvPr id="33" name="Text 31"/>
          <p:cNvSpPr txBox="1"/>
          <p:nvPr/>
        </p:nvSpPr>
        <p:spPr>
          <a:xfrm>
            <a:off x="1097280" y="4937760"/>
            <a:ext cx="9966960" cy="822960"/>
          </a:xfrm>
          <a:prstGeom prst="rect">
            <a:avLst/>
          </a:prstGeom>
          <a:noFill/>
          <a:ln/>
        </p:spPr>
        <p:txBody>
          <a:bodyPr wrap="square" lIns="0" tIns="0" rIns="0" bIns="0" rtlCol="0" anchor="ctr"/>
          <a:lstStyle/>
          <a:p>
            <a:pPr marL="0" indent="0" algn="ctr">
              <a:buNone/>
            </a:pPr>
            <a:r>
              <a:rPr lang="en-US" sz="1400" dirty="0">
                <a:solidFill>
                  <a:schemeClr val="tx1"/>
                </a:solidFill>
              </a:rPr>
              <a:t>Development approach: design the interface → implement client-side behavior → connect routes and controllers → persist data in MySQL → add role-based security → test the complete flow.</a:t>
            </a:r>
            <a:endParaRPr lang="en-US" sz="1400" dirty="0"/>
          </a:p>
        </p:txBody>
      </p:sp>
      <p:sp>
        <p:nvSpPr>
          <p:cNvPr id="34" name="Slide Number Placeholder 0"/>
          <p:cNvSpPr>
            <a:spLocks noGrp="1"/>
          </p:cNvSpPr>
          <p:nvPr>
            <p:ph type="sldNum" sz="quarter" idx="4294967295"/>
          </p:nvPr>
        </p:nvSpPr>
        <p:spPr>
          <a:xfrm>
            <a:off x="10789920" y="6400800"/>
            <a:ext cx="758952" cy="32004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1"/>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4"/>
          <p:cNvSpPr>
            <a:spLocks noGrp="1"/>
          </p:cNvSpPr>
          <p:nvPr>
            <p:ph type="title" idx="104" hasCustomPrompt="1"/>
          </p:nvPr>
        </p:nvSpPr>
        <p:spPr>
          <a:xfrm>
            <a:off x="640080" y="274320"/>
            <a:ext cx="10908792" cy="548640"/>
          </a:xfrm>
          <a:prstGeom prst="rect">
            <a:avLst/>
          </a:prstGeom>
          <a:noFill/>
          <a:ln/>
        </p:spPr>
        <p:txBody>
          <a:bodyPr wrap="square" lIns="0" tIns="0" rIns="0" bIns="0" rtlCol="0" anchor="ctr"/>
          <a:lstStyle/>
          <a:p>
            <a:pPr marL="0" indent="0" algn="ctr">
              <a:buNone/>
            </a:pPr>
            <a:r>
              <a:rPr lang="en-US" sz="2600" b="1" dirty="0">
                <a:solidFill>
                  <a:schemeClr val="tx2"/>
                </a:solidFill>
              </a:rPr>
              <a:t>SYSTEM ARCHITECTURE</a:t>
            </a:r>
            <a:endParaRPr lang="en-US" sz="2600" dirty="0"/>
          </a:p>
        </p:txBody>
      </p:sp>
      <p:sp>
        <p:nvSpPr>
          <p:cNvPr id="3" name="Shape 1"/>
          <p:cNvSpPr/>
          <p:nvPr/>
        </p:nvSpPr>
        <p:spPr>
          <a:xfrm>
            <a:off x="1097280" y="1280160"/>
            <a:ext cx="9994392" cy="868680"/>
          </a:xfrm>
          <a:prstGeom prst="rect">
            <a:avLst/>
          </a:prstGeom>
          <a:solidFill>
            <a:schemeClr val="bg1"/>
          </a:solidFill>
          <a:ln w="25400">
            <a:solidFill>
              <a:schemeClr val="accent2"/>
            </a:solidFill>
            <a:prstDash val="solid"/>
          </a:ln>
        </p:spPr>
      </p:sp>
      <p:sp>
        <p:nvSpPr>
          <p:cNvPr id="4" name="Text 2"/>
          <p:cNvSpPr txBox="1"/>
          <p:nvPr/>
        </p:nvSpPr>
        <p:spPr>
          <a:xfrm>
            <a:off x="1280160" y="1280160"/>
            <a:ext cx="3017520" cy="868680"/>
          </a:xfrm>
          <a:prstGeom prst="rect">
            <a:avLst/>
          </a:prstGeom>
          <a:noFill/>
          <a:ln/>
        </p:spPr>
        <p:txBody>
          <a:bodyPr wrap="square" lIns="0" tIns="0" rIns="0" bIns="0" rtlCol="0" anchor="ctr"/>
          <a:lstStyle/>
          <a:p>
            <a:pPr marL="0" indent="0">
              <a:buNone/>
            </a:pPr>
            <a:r>
              <a:rPr lang="en-US" sz="1400" b="1" dirty="0">
                <a:solidFill>
                  <a:schemeClr val="accent2"/>
                </a:solidFill>
              </a:rPr>
              <a:t>CLIENT / FRONTEND</a:t>
            </a:r>
            <a:endParaRPr lang="en-US" sz="1400" dirty="0"/>
          </a:p>
        </p:txBody>
      </p:sp>
      <p:sp>
        <p:nvSpPr>
          <p:cNvPr id="5" name="Text 3"/>
          <p:cNvSpPr txBox="1"/>
          <p:nvPr/>
        </p:nvSpPr>
        <p:spPr>
          <a:xfrm>
            <a:off x="4297680" y="1280160"/>
            <a:ext cx="6675120" cy="868680"/>
          </a:xfrm>
          <a:prstGeom prst="rect">
            <a:avLst/>
          </a:prstGeom>
          <a:noFill/>
          <a:ln/>
        </p:spPr>
        <p:txBody>
          <a:bodyPr wrap="square" lIns="0" tIns="0" rIns="0" bIns="0" rtlCol="0" anchor="ctr"/>
          <a:lstStyle/>
          <a:p>
            <a:pPr marL="0" indent="0">
              <a:buNone/>
            </a:pPr>
            <a:r>
              <a:rPr lang="en-US" sz="1500" dirty="0">
                <a:solidFill>
                  <a:schemeClr val="tx1"/>
                </a:solidFill>
              </a:rPr>
              <a:t>HTML5  •  CSS3  •  Vanilla JavaScript  •  EJS views</a:t>
            </a:r>
            <a:endParaRPr lang="en-US" sz="1500" dirty="0"/>
          </a:p>
        </p:txBody>
      </p:sp>
      <p:sp>
        <p:nvSpPr>
          <p:cNvPr id="6" name="Shape 4"/>
          <p:cNvSpPr/>
          <p:nvPr/>
        </p:nvSpPr>
        <p:spPr>
          <a:xfrm>
            <a:off x="5897880" y="2185416"/>
            <a:ext cx="384048" cy="201168"/>
          </a:xfrm>
          <a:prstGeom prst="downArrow">
            <a:avLst/>
          </a:prstGeom>
          <a:solidFill>
            <a:schemeClr val="accent6"/>
          </a:solidFill>
          <a:ln w="12700">
            <a:solidFill>
              <a:schemeClr val="accent6"/>
            </a:solidFill>
            <a:prstDash val="solid"/>
          </a:ln>
        </p:spPr>
      </p:sp>
      <p:sp>
        <p:nvSpPr>
          <p:cNvPr id="7" name="Shape 5"/>
          <p:cNvSpPr/>
          <p:nvPr/>
        </p:nvSpPr>
        <p:spPr>
          <a:xfrm>
            <a:off x="1097280" y="2423160"/>
            <a:ext cx="9994392" cy="868680"/>
          </a:xfrm>
          <a:prstGeom prst="rect">
            <a:avLst/>
          </a:prstGeom>
          <a:solidFill>
            <a:schemeClr val="bg1"/>
          </a:solidFill>
          <a:ln w="25400">
            <a:solidFill>
              <a:schemeClr val="accent1"/>
            </a:solidFill>
            <a:prstDash val="solid"/>
          </a:ln>
        </p:spPr>
      </p:sp>
      <p:sp>
        <p:nvSpPr>
          <p:cNvPr id="8" name="Text 6"/>
          <p:cNvSpPr txBox="1"/>
          <p:nvPr/>
        </p:nvSpPr>
        <p:spPr>
          <a:xfrm>
            <a:off x="1280160" y="2423160"/>
            <a:ext cx="3017520" cy="868680"/>
          </a:xfrm>
          <a:prstGeom prst="rect">
            <a:avLst/>
          </a:prstGeom>
          <a:noFill/>
          <a:ln/>
        </p:spPr>
        <p:txBody>
          <a:bodyPr wrap="square" lIns="0" tIns="0" rIns="0" bIns="0" rtlCol="0" anchor="ctr"/>
          <a:lstStyle/>
          <a:p>
            <a:pPr marL="0" indent="0">
              <a:buNone/>
            </a:pPr>
            <a:r>
              <a:rPr lang="en-US" sz="1400" b="1" dirty="0">
                <a:solidFill>
                  <a:schemeClr val="accent1"/>
                </a:solidFill>
              </a:rPr>
              <a:t>APPLICATION / ROUTES</a:t>
            </a:r>
            <a:endParaRPr lang="en-US" sz="1400" dirty="0"/>
          </a:p>
        </p:txBody>
      </p:sp>
      <p:sp>
        <p:nvSpPr>
          <p:cNvPr id="9" name="Text 7"/>
          <p:cNvSpPr txBox="1"/>
          <p:nvPr/>
        </p:nvSpPr>
        <p:spPr>
          <a:xfrm>
            <a:off x="4297680" y="2423160"/>
            <a:ext cx="6675120" cy="868680"/>
          </a:xfrm>
          <a:prstGeom prst="rect">
            <a:avLst/>
          </a:prstGeom>
          <a:noFill/>
          <a:ln/>
        </p:spPr>
        <p:txBody>
          <a:bodyPr wrap="square" lIns="0" tIns="0" rIns="0" bIns="0" rtlCol="0" anchor="ctr"/>
          <a:lstStyle/>
          <a:p>
            <a:pPr marL="0" indent="0">
              <a:buNone/>
            </a:pPr>
            <a:r>
              <a:rPr lang="en-US" sz="1500" dirty="0">
                <a:solidFill>
                  <a:schemeClr val="tx1"/>
                </a:solidFill>
              </a:rPr>
              <a:t>Node.js  •  Express.js  •  Routes → Controllers → Models</a:t>
            </a:r>
            <a:endParaRPr lang="en-US" sz="1500" dirty="0"/>
          </a:p>
        </p:txBody>
      </p:sp>
      <p:sp>
        <p:nvSpPr>
          <p:cNvPr id="10" name="Shape 8"/>
          <p:cNvSpPr/>
          <p:nvPr/>
        </p:nvSpPr>
        <p:spPr>
          <a:xfrm>
            <a:off x="5897880" y="3328416"/>
            <a:ext cx="384048" cy="201168"/>
          </a:xfrm>
          <a:prstGeom prst="downArrow">
            <a:avLst/>
          </a:prstGeom>
          <a:solidFill>
            <a:schemeClr val="accent6"/>
          </a:solidFill>
          <a:ln w="12700">
            <a:solidFill>
              <a:schemeClr val="accent6"/>
            </a:solidFill>
            <a:prstDash val="solid"/>
          </a:ln>
        </p:spPr>
      </p:sp>
      <p:sp>
        <p:nvSpPr>
          <p:cNvPr id="11" name="Shape 9"/>
          <p:cNvSpPr/>
          <p:nvPr/>
        </p:nvSpPr>
        <p:spPr>
          <a:xfrm>
            <a:off x="1097280" y="3566160"/>
            <a:ext cx="9994392" cy="868680"/>
          </a:xfrm>
          <a:prstGeom prst="rect">
            <a:avLst/>
          </a:prstGeom>
          <a:solidFill>
            <a:schemeClr val="bg1"/>
          </a:solidFill>
          <a:ln w="25400">
            <a:solidFill>
              <a:schemeClr val="accent4"/>
            </a:solidFill>
            <a:prstDash val="solid"/>
          </a:ln>
        </p:spPr>
      </p:sp>
      <p:sp>
        <p:nvSpPr>
          <p:cNvPr id="12" name="Text 10"/>
          <p:cNvSpPr txBox="1"/>
          <p:nvPr/>
        </p:nvSpPr>
        <p:spPr>
          <a:xfrm>
            <a:off x="1280160" y="3566160"/>
            <a:ext cx="3017520" cy="868680"/>
          </a:xfrm>
          <a:prstGeom prst="rect">
            <a:avLst/>
          </a:prstGeom>
          <a:noFill/>
          <a:ln/>
        </p:spPr>
        <p:txBody>
          <a:bodyPr wrap="square" lIns="0" tIns="0" rIns="0" bIns="0" rtlCol="0" anchor="ctr"/>
          <a:lstStyle/>
          <a:p>
            <a:pPr marL="0" indent="0">
              <a:buNone/>
            </a:pPr>
            <a:r>
              <a:rPr lang="en-US" sz="1400" b="1" dirty="0">
                <a:solidFill>
                  <a:schemeClr val="accent4"/>
                </a:solidFill>
              </a:rPr>
              <a:t>DATA LAYER</a:t>
            </a:r>
            <a:endParaRPr lang="en-US" sz="1400" dirty="0"/>
          </a:p>
        </p:txBody>
      </p:sp>
      <p:sp>
        <p:nvSpPr>
          <p:cNvPr id="13" name="Text 11"/>
          <p:cNvSpPr txBox="1"/>
          <p:nvPr/>
        </p:nvSpPr>
        <p:spPr>
          <a:xfrm>
            <a:off x="4297680" y="3566160"/>
            <a:ext cx="6675120" cy="868680"/>
          </a:xfrm>
          <a:prstGeom prst="rect">
            <a:avLst/>
          </a:prstGeom>
          <a:noFill/>
          <a:ln/>
        </p:spPr>
        <p:txBody>
          <a:bodyPr wrap="square" lIns="0" tIns="0" rIns="0" bIns="0" rtlCol="0" anchor="ctr"/>
          <a:lstStyle/>
          <a:p>
            <a:pPr marL="0" indent="0">
              <a:buNone/>
            </a:pPr>
            <a:r>
              <a:rPr lang="en-US" sz="1500" dirty="0">
                <a:solidFill>
                  <a:schemeClr val="tx1"/>
                </a:solidFill>
              </a:rPr>
              <a:t>MySQL  •  mysql2 connection pool  •  parameterized queries</a:t>
            </a:r>
            <a:endParaRPr lang="en-US" sz="1500" dirty="0"/>
          </a:p>
        </p:txBody>
      </p:sp>
      <p:sp>
        <p:nvSpPr>
          <p:cNvPr id="14" name="Shape 12"/>
          <p:cNvSpPr/>
          <p:nvPr/>
        </p:nvSpPr>
        <p:spPr>
          <a:xfrm>
            <a:off x="5897880" y="4471416"/>
            <a:ext cx="384048" cy="201168"/>
          </a:xfrm>
          <a:prstGeom prst="downArrow">
            <a:avLst/>
          </a:prstGeom>
          <a:solidFill>
            <a:schemeClr val="accent6"/>
          </a:solidFill>
          <a:ln w="12700">
            <a:solidFill>
              <a:schemeClr val="accent6"/>
            </a:solidFill>
            <a:prstDash val="solid"/>
          </a:ln>
        </p:spPr>
      </p:sp>
      <p:sp>
        <p:nvSpPr>
          <p:cNvPr id="15" name="Shape 13"/>
          <p:cNvSpPr/>
          <p:nvPr/>
        </p:nvSpPr>
        <p:spPr>
          <a:xfrm>
            <a:off x="1097280" y="4709160"/>
            <a:ext cx="9994392" cy="868680"/>
          </a:xfrm>
          <a:prstGeom prst="rect">
            <a:avLst/>
          </a:prstGeom>
          <a:solidFill>
            <a:schemeClr val="bg1"/>
          </a:solidFill>
          <a:ln w="25400">
            <a:solidFill>
              <a:schemeClr val="accent3"/>
            </a:solidFill>
            <a:prstDash val="solid"/>
          </a:ln>
        </p:spPr>
      </p:sp>
      <p:sp>
        <p:nvSpPr>
          <p:cNvPr id="16" name="Text 14"/>
          <p:cNvSpPr txBox="1"/>
          <p:nvPr/>
        </p:nvSpPr>
        <p:spPr>
          <a:xfrm>
            <a:off x="1280160" y="4709160"/>
            <a:ext cx="3017520" cy="868680"/>
          </a:xfrm>
          <a:prstGeom prst="rect">
            <a:avLst/>
          </a:prstGeom>
          <a:noFill/>
          <a:ln/>
        </p:spPr>
        <p:txBody>
          <a:bodyPr wrap="square" lIns="0" tIns="0" rIns="0" bIns="0" rtlCol="0" anchor="ctr"/>
          <a:lstStyle/>
          <a:p>
            <a:pPr marL="0" indent="0">
              <a:buNone/>
            </a:pPr>
            <a:r>
              <a:rPr lang="en-US" sz="1400" b="1" dirty="0">
                <a:solidFill>
                  <a:schemeClr val="accent3"/>
                </a:solidFill>
              </a:rPr>
              <a:t>SECURITY</a:t>
            </a:r>
            <a:endParaRPr lang="en-US" sz="1400" dirty="0"/>
          </a:p>
        </p:txBody>
      </p:sp>
      <p:sp>
        <p:nvSpPr>
          <p:cNvPr id="17" name="Text 15"/>
          <p:cNvSpPr txBox="1"/>
          <p:nvPr/>
        </p:nvSpPr>
        <p:spPr>
          <a:xfrm>
            <a:off x="4297680" y="4709160"/>
            <a:ext cx="6675120" cy="868680"/>
          </a:xfrm>
          <a:prstGeom prst="rect">
            <a:avLst/>
          </a:prstGeom>
          <a:noFill/>
          <a:ln/>
        </p:spPr>
        <p:txBody>
          <a:bodyPr wrap="square" lIns="0" tIns="0" rIns="0" bIns="0" rtlCol="0" anchor="ctr"/>
          <a:lstStyle/>
          <a:p>
            <a:pPr marL="0" indent="0">
              <a:buNone/>
            </a:pPr>
            <a:r>
              <a:rPr lang="en-US" sz="1500" dirty="0">
                <a:solidFill>
                  <a:schemeClr val="tx1"/>
                </a:solidFill>
              </a:rPr>
              <a:t>Express Session  •  bcryptjs hashing  •  route guards  •  input validation</a:t>
            </a:r>
            <a:endParaRPr lang="en-US" sz="1500" dirty="0"/>
          </a:p>
        </p:txBody>
      </p:sp>
      <p:sp>
        <p:nvSpPr>
          <p:cNvPr id="18" name="Text 16"/>
          <p:cNvSpPr txBox="1"/>
          <p:nvPr/>
        </p:nvSpPr>
        <p:spPr>
          <a:xfrm>
            <a:off x="1097280" y="5852160"/>
            <a:ext cx="9994392" cy="365760"/>
          </a:xfrm>
          <a:prstGeom prst="rect">
            <a:avLst/>
          </a:prstGeom>
          <a:noFill/>
          <a:ln/>
        </p:spPr>
        <p:txBody>
          <a:bodyPr wrap="square" lIns="0" tIns="0" rIns="0" bIns="0" rtlCol="0" anchor="ctr"/>
          <a:lstStyle/>
          <a:p>
            <a:pPr marL="0" indent="0" algn="ctr">
              <a:buNone/>
            </a:pPr>
            <a:r>
              <a:rPr lang="en-US" sz="1600" b="1" dirty="0">
                <a:solidFill>
                  <a:schemeClr val="tx2"/>
                </a:solidFill>
              </a:rPr>
              <a:t>Role-based access:  Student  |  Admin  |  Super Admin</a:t>
            </a:r>
            <a:endParaRPr lang="en-US" sz="1600" dirty="0"/>
          </a:p>
        </p:txBody>
      </p:sp>
      <p:sp>
        <p:nvSpPr>
          <p:cNvPr id="25" name="Slide Number Placeholder 0"/>
          <p:cNvSpPr>
            <a:spLocks noGrp="1"/>
          </p:cNvSpPr>
          <p:nvPr>
            <p:ph type="sldNum" sz="quarter" idx="4294967295"/>
          </p:nvPr>
        </p:nvSpPr>
        <p:spPr>
          <a:xfrm>
            <a:off x="10789920" y="6400800"/>
            <a:ext cx="758952" cy="32004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1"/>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4"/>
          <p:cNvSpPr>
            <a:spLocks noGrp="1"/>
          </p:cNvSpPr>
          <p:nvPr>
            <p:ph type="title" idx="104" hasCustomPrompt="1"/>
          </p:nvPr>
        </p:nvSpPr>
        <p:spPr>
          <a:xfrm>
            <a:off x="640080" y="274320"/>
            <a:ext cx="10908792" cy="548640"/>
          </a:xfrm>
          <a:prstGeom prst="rect">
            <a:avLst/>
          </a:prstGeom>
          <a:noFill/>
          <a:ln/>
        </p:spPr>
        <p:txBody>
          <a:bodyPr wrap="square" lIns="0" tIns="0" rIns="0" bIns="0" rtlCol="0" anchor="ctr"/>
          <a:lstStyle/>
          <a:p>
            <a:pPr marL="0" indent="0" algn="ctr">
              <a:buNone/>
            </a:pPr>
            <a:r>
              <a:rPr lang="en-US" sz="2600" b="1" dirty="0">
                <a:solidFill>
                  <a:schemeClr val="tx2"/>
                </a:solidFill>
              </a:rPr>
              <a:t>TECHNOLOGIES USED</a:t>
            </a:r>
            <a:endParaRPr lang="en-US" sz="2600" dirty="0"/>
          </a:p>
        </p:txBody>
      </p:sp>
      <p:sp>
        <p:nvSpPr>
          <p:cNvPr id="3" name="Shape 1"/>
          <p:cNvSpPr/>
          <p:nvPr/>
        </p:nvSpPr>
        <p:spPr>
          <a:xfrm>
            <a:off x="640080" y="1234440"/>
            <a:ext cx="5349240" cy="914400"/>
          </a:xfrm>
          <a:prstGeom prst="rect">
            <a:avLst/>
          </a:prstGeom>
          <a:solidFill>
            <a:schemeClr val="bg1"/>
          </a:solidFill>
          <a:ln w="9525">
            <a:solidFill>
              <a:srgbClr val="E5E7EB"/>
            </a:solidFill>
            <a:prstDash val="solid"/>
          </a:ln>
          <a:effectLst>
            <a:outerShdw blurRad="76200" dist="25400" dir="5400000" algn="bl" rotWithShape="0">
              <a:srgbClr val="000000">
                <a:alpha val="15000"/>
              </a:srgbClr>
            </a:outerShdw>
          </a:effectLst>
        </p:spPr>
      </p:sp>
      <p:sp>
        <p:nvSpPr>
          <p:cNvPr id="4" name="Shape 2"/>
          <p:cNvSpPr/>
          <p:nvPr/>
        </p:nvSpPr>
        <p:spPr>
          <a:xfrm>
            <a:off x="640080" y="1234440"/>
            <a:ext cx="82296" cy="914400"/>
          </a:xfrm>
          <a:prstGeom prst="rect">
            <a:avLst/>
          </a:prstGeom>
          <a:solidFill>
            <a:schemeClr val="accent1"/>
          </a:solidFill>
          <a:ln w="12700">
            <a:solidFill>
              <a:schemeClr val="accent1"/>
            </a:solidFill>
            <a:prstDash val="solid"/>
          </a:ln>
        </p:spPr>
      </p:sp>
      <p:sp>
        <p:nvSpPr>
          <p:cNvPr id="5" name="Text 3"/>
          <p:cNvSpPr txBox="1"/>
          <p:nvPr/>
        </p:nvSpPr>
        <p:spPr>
          <a:xfrm>
            <a:off x="868680" y="1325880"/>
            <a:ext cx="4937760" cy="365760"/>
          </a:xfrm>
          <a:prstGeom prst="rect">
            <a:avLst/>
          </a:prstGeom>
          <a:noFill/>
          <a:ln/>
        </p:spPr>
        <p:txBody>
          <a:bodyPr wrap="square" lIns="0" tIns="0" rIns="0" bIns="0" rtlCol="0" anchor="ctr"/>
          <a:lstStyle/>
          <a:p>
            <a:pPr marL="0" indent="0">
              <a:buNone/>
            </a:pPr>
            <a:r>
              <a:rPr lang="en-US" sz="1500" b="1" dirty="0">
                <a:solidFill>
                  <a:schemeClr val="tx2"/>
                </a:solidFill>
              </a:rPr>
              <a:t>HTML5</a:t>
            </a:r>
            <a:endParaRPr lang="en-US" sz="1500" dirty="0"/>
          </a:p>
        </p:txBody>
      </p:sp>
      <p:sp>
        <p:nvSpPr>
          <p:cNvPr id="6" name="Text 4"/>
          <p:cNvSpPr txBox="1"/>
          <p:nvPr/>
        </p:nvSpPr>
        <p:spPr>
          <a:xfrm>
            <a:off x="868680" y="1691640"/>
            <a:ext cx="4937760" cy="365760"/>
          </a:xfrm>
          <a:prstGeom prst="rect">
            <a:avLst/>
          </a:prstGeom>
          <a:noFill/>
          <a:ln/>
        </p:spPr>
        <p:txBody>
          <a:bodyPr wrap="square" lIns="0" tIns="0" rIns="0" bIns="0" rtlCol="0" anchor="ctr"/>
          <a:lstStyle/>
          <a:p>
            <a:pPr marL="0" indent="0">
              <a:buNone/>
            </a:pPr>
            <a:r>
              <a:rPr lang="en-US" sz="1300" dirty="0">
                <a:solidFill>
                  <a:schemeClr val="tx1"/>
                </a:solidFill>
              </a:rPr>
              <a:t>Page structure &amp; forms</a:t>
            </a:r>
            <a:endParaRPr lang="en-US" sz="1300" dirty="0"/>
          </a:p>
        </p:txBody>
      </p:sp>
      <p:sp>
        <p:nvSpPr>
          <p:cNvPr id="7" name="Shape 5"/>
          <p:cNvSpPr/>
          <p:nvPr/>
        </p:nvSpPr>
        <p:spPr>
          <a:xfrm>
            <a:off x="6199632" y="1234440"/>
            <a:ext cx="5349240" cy="914400"/>
          </a:xfrm>
          <a:prstGeom prst="rect">
            <a:avLst/>
          </a:prstGeom>
          <a:solidFill>
            <a:schemeClr val="bg1"/>
          </a:solidFill>
          <a:ln w="9525">
            <a:solidFill>
              <a:srgbClr val="E5E7EB"/>
            </a:solidFill>
            <a:prstDash val="solid"/>
          </a:ln>
          <a:effectLst>
            <a:outerShdw blurRad="76200" dist="25400" dir="5400000" algn="bl" rotWithShape="0">
              <a:srgbClr val="000000">
                <a:alpha val="15000"/>
              </a:srgbClr>
            </a:outerShdw>
          </a:effectLst>
        </p:spPr>
      </p:sp>
      <p:sp>
        <p:nvSpPr>
          <p:cNvPr id="8" name="Shape 6"/>
          <p:cNvSpPr/>
          <p:nvPr/>
        </p:nvSpPr>
        <p:spPr>
          <a:xfrm>
            <a:off x="6199632" y="1234440"/>
            <a:ext cx="82296" cy="914400"/>
          </a:xfrm>
          <a:prstGeom prst="rect">
            <a:avLst/>
          </a:prstGeom>
          <a:solidFill>
            <a:schemeClr val="accent1"/>
          </a:solidFill>
          <a:ln w="12700">
            <a:solidFill>
              <a:schemeClr val="accent1"/>
            </a:solidFill>
            <a:prstDash val="solid"/>
          </a:ln>
        </p:spPr>
      </p:sp>
      <p:sp>
        <p:nvSpPr>
          <p:cNvPr id="9" name="Text 7"/>
          <p:cNvSpPr txBox="1"/>
          <p:nvPr/>
        </p:nvSpPr>
        <p:spPr>
          <a:xfrm>
            <a:off x="6428232" y="1325880"/>
            <a:ext cx="4937760" cy="365760"/>
          </a:xfrm>
          <a:prstGeom prst="rect">
            <a:avLst/>
          </a:prstGeom>
          <a:noFill/>
          <a:ln/>
        </p:spPr>
        <p:txBody>
          <a:bodyPr wrap="square" lIns="0" tIns="0" rIns="0" bIns="0" rtlCol="0" anchor="ctr"/>
          <a:lstStyle/>
          <a:p>
            <a:pPr marL="0" indent="0">
              <a:buNone/>
            </a:pPr>
            <a:r>
              <a:rPr lang="en-US" sz="1500" b="1" dirty="0">
                <a:solidFill>
                  <a:schemeClr val="tx2"/>
                </a:solidFill>
              </a:rPr>
              <a:t>CSS3</a:t>
            </a:r>
            <a:endParaRPr lang="en-US" sz="1500" dirty="0"/>
          </a:p>
        </p:txBody>
      </p:sp>
      <p:sp>
        <p:nvSpPr>
          <p:cNvPr id="10" name="Text 8"/>
          <p:cNvSpPr txBox="1"/>
          <p:nvPr/>
        </p:nvSpPr>
        <p:spPr>
          <a:xfrm>
            <a:off x="6428232" y="1691640"/>
            <a:ext cx="4937760" cy="365760"/>
          </a:xfrm>
          <a:prstGeom prst="rect">
            <a:avLst/>
          </a:prstGeom>
          <a:noFill/>
          <a:ln/>
        </p:spPr>
        <p:txBody>
          <a:bodyPr wrap="square" lIns="0" tIns="0" rIns="0" bIns="0" rtlCol="0" anchor="ctr"/>
          <a:lstStyle/>
          <a:p>
            <a:pPr marL="0" indent="0">
              <a:buNone/>
            </a:pPr>
            <a:r>
              <a:rPr lang="en-US" sz="1300" dirty="0">
                <a:solidFill>
                  <a:schemeClr val="tx1"/>
                </a:solidFill>
              </a:rPr>
              <a:t>Responsive UI &amp; visual design</a:t>
            </a:r>
            <a:endParaRPr lang="en-US" sz="1300" dirty="0"/>
          </a:p>
        </p:txBody>
      </p:sp>
      <p:sp>
        <p:nvSpPr>
          <p:cNvPr id="11" name="Shape 9"/>
          <p:cNvSpPr/>
          <p:nvPr/>
        </p:nvSpPr>
        <p:spPr>
          <a:xfrm>
            <a:off x="640080" y="2331720"/>
            <a:ext cx="5349240" cy="914400"/>
          </a:xfrm>
          <a:prstGeom prst="rect">
            <a:avLst/>
          </a:prstGeom>
          <a:solidFill>
            <a:schemeClr val="bg1"/>
          </a:solidFill>
          <a:ln w="9525">
            <a:solidFill>
              <a:srgbClr val="E5E7EB"/>
            </a:solidFill>
            <a:prstDash val="solid"/>
          </a:ln>
          <a:effectLst>
            <a:outerShdw blurRad="76200" dist="25400" dir="5400000" algn="bl" rotWithShape="0">
              <a:srgbClr val="000000">
                <a:alpha val="15000"/>
              </a:srgbClr>
            </a:outerShdw>
          </a:effectLst>
        </p:spPr>
      </p:sp>
      <p:sp>
        <p:nvSpPr>
          <p:cNvPr id="12" name="Shape 10"/>
          <p:cNvSpPr/>
          <p:nvPr/>
        </p:nvSpPr>
        <p:spPr>
          <a:xfrm>
            <a:off x="640080" y="2331720"/>
            <a:ext cx="82296" cy="914400"/>
          </a:xfrm>
          <a:prstGeom prst="rect">
            <a:avLst/>
          </a:prstGeom>
          <a:solidFill>
            <a:schemeClr val="accent2"/>
          </a:solidFill>
          <a:ln w="12700">
            <a:solidFill>
              <a:schemeClr val="accent1"/>
            </a:solidFill>
            <a:prstDash val="solid"/>
          </a:ln>
        </p:spPr>
      </p:sp>
      <p:sp>
        <p:nvSpPr>
          <p:cNvPr id="13" name="Text 11"/>
          <p:cNvSpPr txBox="1"/>
          <p:nvPr/>
        </p:nvSpPr>
        <p:spPr>
          <a:xfrm>
            <a:off x="868680" y="2423160"/>
            <a:ext cx="4937760" cy="365760"/>
          </a:xfrm>
          <a:prstGeom prst="rect">
            <a:avLst/>
          </a:prstGeom>
          <a:noFill/>
          <a:ln/>
        </p:spPr>
        <p:txBody>
          <a:bodyPr wrap="square" lIns="0" tIns="0" rIns="0" bIns="0" rtlCol="0" anchor="ctr"/>
          <a:lstStyle/>
          <a:p>
            <a:pPr marL="0" indent="0">
              <a:buNone/>
            </a:pPr>
            <a:r>
              <a:rPr lang="en-US" sz="1500" b="1" dirty="0">
                <a:solidFill>
                  <a:schemeClr val="tx2"/>
                </a:solidFill>
              </a:rPr>
              <a:t>Vanilla JavaScript</a:t>
            </a:r>
            <a:endParaRPr lang="en-US" sz="1500" dirty="0"/>
          </a:p>
        </p:txBody>
      </p:sp>
      <p:sp>
        <p:nvSpPr>
          <p:cNvPr id="14" name="Text 12"/>
          <p:cNvSpPr txBox="1"/>
          <p:nvPr/>
        </p:nvSpPr>
        <p:spPr>
          <a:xfrm>
            <a:off x="868680" y="2788920"/>
            <a:ext cx="4937760" cy="365760"/>
          </a:xfrm>
          <a:prstGeom prst="rect">
            <a:avLst/>
          </a:prstGeom>
          <a:noFill/>
          <a:ln/>
        </p:spPr>
        <p:txBody>
          <a:bodyPr wrap="square" lIns="0" tIns="0" rIns="0" bIns="0" rtlCol="0" anchor="ctr"/>
          <a:lstStyle/>
          <a:p>
            <a:pPr marL="0" indent="0">
              <a:buNone/>
            </a:pPr>
            <a:r>
              <a:rPr lang="en-US" sz="1300" dirty="0">
                <a:solidFill>
                  <a:schemeClr val="tx1"/>
                </a:solidFill>
              </a:rPr>
              <a:t>DOM, events &amp; validation</a:t>
            </a:r>
            <a:endParaRPr lang="en-US" sz="1300" dirty="0"/>
          </a:p>
        </p:txBody>
      </p:sp>
      <p:sp>
        <p:nvSpPr>
          <p:cNvPr id="15" name="Shape 13"/>
          <p:cNvSpPr/>
          <p:nvPr/>
        </p:nvSpPr>
        <p:spPr>
          <a:xfrm>
            <a:off x="6199632" y="2331720"/>
            <a:ext cx="5349240" cy="914400"/>
          </a:xfrm>
          <a:prstGeom prst="rect">
            <a:avLst/>
          </a:prstGeom>
          <a:solidFill>
            <a:schemeClr val="bg1"/>
          </a:solidFill>
          <a:ln w="9525">
            <a:solidFill>
              <a:srgbClr val="E5E7EB"/>
            </a:solidFill>
            <a:prstDash val="solid"/>
          </a:ln>
          <a:effectLst>
            <a:outerShdw blurRad="76200" dist="25400" dir="5400000" algn="bl" rotWithShape="0">
              <a:srgbClr val="000000">
                <a:alpha val="15000"/>
              </a:srgbClr>
            </a:outerShdw>
          </a:effectLst>
        </p:spPr>
      </p:sp>
      <p:sp>
        <p:nvSpPr>
          <p:cNvPr id="16" name="Shape 14"/>
          <p:cNvSpPr/>
          <p:nvPr/>
        </p:nvSpPr>
        <p:spPr>
          <a:xfrm>
            <a:off x="6199632" y="2331720"/>
            <a:ext cx="82296" cy="914400"/>
          </a:xfrm>
          <a:prstGeom prst="rect">
            <a:avLst/>
          </a:prstGeom>
          <a:solidFill>
            <a:schemeClr val="accent2"/>
          </a:solidFill>
          <a:ln w="12700">
            <a:solidFill>
              <a:schemeClr val="accent1"/>
            </a:solidFill>
            <a:prstDash val="solid"/>
          </a:ln>
        </p:spPr>
      </p:sp>
      <p:sp>
        <p:nvSpPr>
          <p:cNvPr id="17" name="Text 15"/>
          <p:cNvSpPr txBox="1"/>
          <p:nvPr/>
        </p:nvSpPr>
        <p:spPr>
          <a:xfrm>
            <a:off x="6428232" y="2423160"/>
            <a:ext cx="4937760" cy="365760"/>
          </a:xfrm>
          <a:prstGeom prst="rect">
            <a:avLst/>
          </a:prstGeom>
          <a:noFill/>
          <a:ln/>
        </p:spPr>
        <p:txBody>
          <a:bodyPr wrap="square" lIns="0" tIns="0" rIns="0" bIns="0" rtlCol="0" anchor="ctr"/>
          <a:lstStyle/>
          <a:p>
            <a:pPr marL="0" indent="0">
              <a:buNone/>
            </a:pPr>
            <a:r>
              <a:rPr lang="en-US" sz="1500" b="1" dirty="0">
                <a:solidFill>
                  <a:schemeClr val="tx2"/>
                </a:solidFill>
              </a:rPr>
              <a:t>EJS</a:t>
            </a:r>
            <a:endParaRPr lang="en-US" sz="1500" dirty="0"/>
          </a:p>
        </p:txBody>
      </p:sp>
      <p:sp>
        <p:nvSpPr>
          <p:cNvPr id="18" name="Text 16"/>
          <p:cNvSpPr txBox="1"/>
          <p:nvPr/>
        </p:nvSpPr>
        <p:spPr>
          <a:xfrm>
            <a:off x="6428232" y="2788920"/>
            <a:ext cx="4937760" cy="365760"/>
          </a:xfrm>
          <a:prstGeom prst="rect">
            <a:avLst/>
          </a:prstGeom>
          <a:noFill/>
          <a:ln/>
        </p:spPr>
        <p:txBody>
          <a:bodyPr wrap="square" lIns="0" tIns="0" rIns="0" bIns="0" rtlCol="0" anchor="ctr"/>
          <a:lstStyle/>
          <a:p>
            <a:pPr marL="0" indent="0">
              <a:buNone/>
            </a:pPr>
            <a:r>
              <a:rPr lang="en-US" sz="1300" dirty="0">
                <a:solidFill>
                  <a:schemeClr val="tx1"/>
                </a:solidFill>
              </a:rPr>
              <a:t>Server-side view templates</a:t>
            </a:r>
            <a:endParaRPr lang="en-US" sz="1300" dirty="0"/>
          </a:p>
        </p:txBody>
      </p:sp>
      <p:sp>
        <p:nvSpPr>
          <p:cNvPr id="19" name="Shape 17"/>
          <p:cNvSpPr/>
          <p:nvPr/>
        </p:nvSpPr>
        <p:spPr>
          <a:xfrm>
            <a:off x="640080" y="3429000"/>
            <a:ext cx="5349240" cy="914400"/>
          </a:xfrm>
          <a:prstGeom prst="rect">
            <a:avLst/>
          </a:prstGeom>
          <a:solidFill>
            <a:schemeClr val="bg1"/>
          </a:solidFill>
          <a:ln w="9525">
            <a:solidFill>
              <a:srgbClr val="E5E7EB"/>
            </a:solidFill>
            <a:prstDash val="solid"/>
          </a:ln>
          <a:effectLst>
            <a:outerShdw blurRad="76200" dist="25400" dir="5400000" algn="bl" rotWithShape="0">
              <a:srgbClr val="000000">
                <a:alpha val="15000"/>
              </a:srgbClr>
            </a:outerShdw>
          </a:effectLst>
        </p:spPr>
      </p:sp>
      <p:sp>
        <p:nvSpPr>
          <p:cNvPr id="20" name="Shape 18"/>
          <p:cNvSpPr/>
          <p:nvPr/>
        </p:nvSpPr>
        <p:spPr>
          <a:xfrm>
            <a:off x="640080" y="3429000"/>
            <a:ext cx="82296" cy="914400"/>
          </a:xfrm>
          <a:prstGeom prst="rect">
            <a:avLst/>
          </a:prstGeom>
          <a:solidFill>
            <a:schemeClr val="accent3"/>
          </a:solidFill>
          <a:ln w="12700">
            <a:solidFill>
              <a:schemeClr val="accent1"/>
            </a:solidFill>
            <a:prstDash val="solid"/>
          </a:ln>
        </p:spPr>
      </p:sp>
      <p:sp>
        <p:nvSpPr>
          <p:cNvPr id="21" name="Text 19"/>
          <p:cNvSpPr txBox="1"/>
          <p:nvPr/>
        </p:nvSpPr>
        <p:spPr>
          <a:xfrm>
            <a:off x="868680" y="3520440"/>
            <a:ext cx="4937760" cy="365760"/>
          </a:xfrm>
          <a:prstGeom prst="rect">
            <a:avLst/>
          </a:prstGeom>
          <a:noFill/>
          <a:ln/>
        </p:spPr>
        <p:txBody>
          <a:bodyPr wrap="square" lIns="0" tIns="0" rIns="0" bIns="0" rtlCol="0" anchor="ctr"/>
          <a:lstStyle/>
          <a:p>
            <a:pPr marL="0" indent="0">
              <a:buNone/>
            </a:pPr>
            <a:r>
              <a:rPr lang="en-US" sz="1500" b="1" dirty="0">
                <a:solidFill>
                  <a:schemeClr val="tx2"/>
                </a:solidFill>
              </a:rPr>
              <a:t>Node.js + Express</a:t>
            </a:r>
            <a:endParaRPr lang="en-US" sz="1500" dirty="0"/>
          </a:p>
        </p:txBody>
      </p:sp>
      <p:sp>
        <p:nvSpPr>
          <p:cNvPr id="22" name="Text 20"/>
          <p:cNvSpPr txBox="1"/>
          <p:nvPr/>
        </p:nvSpPr>
        <p:spPr>
          <a:xfrm>
            <a:off x="868680" y="3886200"/>
            <a:ext cx="4937760" cy="365760"/>
          </a:xfrm>
          <a:prstGeom prst="rect">
            <a:avLst/>
          </a:prstGeom>
          <a:noFill/>
          <a:ln/>
        </p:spPr>
        <p:txBody>
          <a:bodyPr wrap="square" lIns="0" tIns="0" rIns="0" bIns="0" rtlCol="0" anchor="ctr"/>
          <a:lstStyle/>
          <a:p>
            <a:pPr marL="0" indent="0">
              <a:buNone/>
            </a:pPr>
            <a:r>
              <a:rPr lang="en-US" sz="1300" dirty="0">
                <a:solidFill>
                  <a:schemeClr val="tx1"/>
                </a:solidFill>
              </a:rPr>
              <a:t>Server &amp; routing</a:t>
            </a:r>
            <a:endParaRPr lang="en-US" sz="1300" dirty="0"/>
          </a:p>
        </p:txBody>
      </p:sp>
      <p:sp>
        <p:nvSpPr>
          <p:cNvPr id="23" name="Shape 21"/>
          <p:cNvSpPr/>
          <p:nvPr/>
        </p:nvSpPr>
        <p:spPr>
          <a:xfrm>
            <a:off x="6199632" y="3429000"/>
            <a:ext cx="5349240" cy="914400"/>
          </a:xfrm>
          <a:prstGeom prst="rect">
            <a:avLst/>
          </a:prstGeom>
          <a:solidFill>
            <a:schemeClr val="bg1"/>
          </a:solidFill>
          <a:ln w="9525">
            <a:solidFill>
              <a:srgbClr val="E5E7EB"/>
            </a:solidFill>
            <a:prstDash val="solid"/>
          </a:ln>
          <a:effectLst>
            <a:outerShdw blurRad="76200" dist="25400" dir="5400000" algn="bl" rotWithShape="0">
              <a:srgbClr val="000000">
                <a:alpha val="15000"/>
              </a:srgbClr>
            </a:outerShdw>
          </a:effectLst>
        </p:spPr>
      </p:sp>
      <p:sp>
        <p:nvSpPr>
          <p:cNvPr id="24" name="Shape 22"/>
          <p:cNvSpPr/>
          <p:nvPr/>
        </p:nvSpPr>
        <p:spPr>
          <a:xfrm>
            <a:off x="6199632" y="3429000"/>
            <a:ext cx="82296" cy="914400"/>
          </a:xfrm>
          <a:prstGeom prst="rect">
            <a:avLst/>
          </a:prstGeom>
          <a:solidFill>
            <a:schemeClr val="accent3"/>
          </a:solidFill>
          <a:ln w="12700">
            <a:solidFill>
              <a:schemeClr val="accent1"/>
            </a:solidFill>
            <a:prstDash val="solid"/>
          </a:ln>
        </p:spPr>
      </p:sp>
      <p:sp>
        <p:nvSpPr>
          <p:cNvPr id="25" name="Text 23"/>
          <p:cNvSpPr txBox="1"/>
          <p:nvPr/>
        </p:nvSpPr>
        <p:spPr>
          <a:xfrm>
            <a:off x="6428232" y="3520440"/>
            <a:ext cx="4937760" cy="365760"/>
          </a:xfrm>
          <a:prstGeom prst="rect">
            <a:avLst/>
          </a:prstGeom>
          <a:noFill/>
          <a:ln/>
        </p:spPr>
        <p:txBody>
          <a:bodyPr wrap="square" lIns="0" tIns="0" rIns="0" bIns="0" rtlCol="0" anchor="ctr"/>
          <a:lstStyle/>
          <a:p>
            <a:pPr marL="0" indent="0">
              <a:buNone/>
            </a:pPr>
            <a:r>
              <a:rPr lang="en-US" sz="1500" b="1" dirty="0">
                <a:solidFill>
                  <a:schemeClr val="tx2"/>
                </a:solidFill>
              </a:rPr>
              <a:t>MySQL (mysql2)</a:t>
            </a:r>
            <a:endParaRPr lang="en-US" sz="1500" dirty="0"/>
          </a:p>
        </p:txBody>
      </p:sp>
      <p:sp>
        <p:nvSpPr>
          <p:cNvPr id="26" name="Text 24"/>
          <p:cNvSpPr txBox="1"/>
          <p:nvPr/>
        </p:nvSpPr>
        <p:spPr>
          <a:xfrm>
            <a:off x="6428232" y="3886200"/>
            <a:ext cx="4937760" cy="365760"/>
          </a:xfrm>
          <a:prstGeom prst="rect">
            <a:avLst/>
          </a:prstGeom>
          <a:noFill/>
          <a:ln/>
        </p:spPr>
        <p:txBody>
          <a:bodyPr wrap="square" lIns="0" tIns="0" rIns="0" bIns="0" rtlCol="0" anchor="ctr"/>
          <a:lstStyle/>
          <a:p>
            <a:pPr marL="0" indent="0">
              <a:buNone/>
            </a:pPr>
            <a:r>
              <a:rPr lang="en-US" sz="1300" dirty="0">
                <a:solidFill>
                  <a:schemeClr val="tx1"/>
                </a:solidFill>
              </a:rPr>
              <a:t>Persistent data storage</a:t>
            </a:r>
            <a:endParaRPr lang="en-US" sz="1300" dirty="0"/>
          </a:p>
        </p:txBody>
      </p:sp>
      <p:sp>
        <p:nvSpPr>
          <p:cNvPr id="27" name="Shape 25"/>
          <p:cNvSpPr/>
          <p:nvPr/>
        </p:nvSpPr>
        <p:spPr>
          <a:xfrm>
            <a:off x="640080" y="4526280"/>
            <a:ext cx="5349240" cy="914400"/>
          </a:xfrm>
          <a:prstGeom prst="rect">
            <a:avLst/>
          </a:prstGeom>
          <a:solidFill>
            <a:schemeClr val="bg1"/>
          </a:solidFill>
          <a:ln w="9525">
            <a:solidFill>
              <a:srgbClr val="E5E7EB"/>
            </a:solidFill>
            <a:prstDash val="solid"/>
          </a:ln>
          <a:effectLst>
            <a:outerShdw blurRad="76200" dist="25400" dir="5400000" algn="bl" rotWithShape="0">
              <a:srgbClr val="000000">
                <a:alpha val="15000"/>
              </a:srgbClr>
            </a:outerShdw>
          </a:effectLst>
        </p:spPr>
      </p:sp>
      <p:sp>
        <p:nvSpPr>
          <p:cNvPr id="28" name="Shape 26"/>
          <p:cNvSpPr/>
          <p:nvPr/>
        </p:nvSpPr>
        <p:spPr>
          <a:xfrm>
            <a:off x="640080" y="4526280"/>
            <a:ext cx="82296" cy="914400"/>
          </a:xfrm>
          <a:prstGeom prst="rect">
            <a:avLst/>
          </a:prstGeom>
          <a:solidFill>
            <a:schemeClr val="accent4"/>
          </a:solidFill>
          <a:ln w="12700">
            <a:solidFill>
              <a:schemeClr val="accent1"/>
            </a:solidFill>
            <a:prstDash val="solid"/>
          </a:ln>
        </p:spPr>
      </p:sp>
      <p:sp>
        <p:nvSpPr>
          <p:cNvPr id="29" name="Text 27"/>
          <p:cNvSpPr txBox="1"/>
          <p:nvPr/>
        </p:nvSpPr>
        <p:spPr>
          <a:xfrm>
            <a:off x="868680" y="4617720"/>
            <a:ext cx="4937760" cy="365760"/>
          </a:xfrm>
          <a:prstGeom prst="rect">
            <a:avLst/>
          </a:prstGeom>
          <a:noFill/>
          <a:ln/>
        </p:spPr>
        <p:txBody>
          <a:bodyPr wrap="square" lIns="0" tIns="0" rIns="0" bIns="0" rtlCol="0" anchor="ctr"/>
          <a:lstStyle/>
          <a:p>
            <a:pPr marL="0" indent="0">
              <a:buNone/>
            </a:pPr>
            <a:r>
              <a:rPr lang="en-US" sz="1500" b="1" dirty="0">
                <a:solidFill>
                  <a:schemeClr val="tx2"/>
                </a:solidFill>
              </a:rPr>
              <a:t>Express Session + bcryptjs</a:t>
            </a:r>
            <a:endParaRPr lang="en-US" sz="1500" dirty="0"/>
          </a:p>
        </p:txBody>
      </p:sp>
      <p:sp>
        <p:nvSpPr>
          <p:cNvPr id="30" name="Text 28"/>
          <p:cNvSpPr txBox="1"/>
          <p:nvPr/>
        </p:nvSpPr>
        <p:spPr>
          <a:xfrm>
            <a:off x="868680" y="4983480"/>
            <a:ext cx="4937760" cy="365760"/>
          </a:xfrm>
          <a:prstGeom prst="rect">
            <a:avLst/>
          </a:prstGeom>
          <a:noFill/>
          <a:ln/>
        </p:spPr>
        <p:txBody>
          <a:bodyPr wrap="square" lIns="0" tIns="0" rIns="0" bIns="0" rtlCol="0" anchor="ctr"/>
          <a:lstStyle/>
          <a:p>
            <a:pPr marL="0" indent="0">
              <a:buNone/>
            </a:pPr>
            <a:r>
              <a:rPr lang="en-US" sz="1300" dirty="0">
                <a:solidFill>
                  <a:schemeClr val="tx1"/>
                </a:solidFill>
              </a:rPr>
              <a:t>Authentication &amp; password security</a:t>
            </a:r>
            <a:endParaRPr lang="en-US" sz="1300" dirty="0"/>
          </a:p>
        </p:txBody>
      </p:sp>
      <p:sp>
        <p:nvSpPr>
          <p:cNvPr id="31" name="Shape 29"/>
          <p:cNvSpPr/>
          <p:nvPr/>
        </p:nvSpPr>
        <p:spPr>
          <a:xfrm>
            <a:off x="6199632" y="4526280"/>
            <a:ext cx="5349240" cy="914400"/>
          </a:xfrm>
          <a:prstGeom prst="rect">
            <a:avLst/>
          </a:prstGeom>
          <a:solidFill>
            <a:schemeClr val="bg1"/>
          </a:solidFill>
          <a:ln w="9525">
            <a:solidFill>
              <a:srgbClr val="E5E7EB"/>
            </a:solidFill>
            <a:prstDash val="solid"/>
          </a:ln>
          <a:effectLst>
            <a:outerShdw blurRad="76200" dist="25400" dir="5400000" algn="bl" rotWithShape="0">
              <a:srgbClr val="000000">
                <a:alpha val="15000"/>
              </a:srgbClr>
            </a:outerShdw>
          </a:effectLst>
        </p:spPr>
      </p:sp>
      <p:sp>
        <p:nvSpPr>
          <p:cNvPr id="32" name="Shape 30"/>
          <p:cNvSpPr/>
          <p:nvPr/>
        </p:nvSpPr>
        <p:spPr>
          <a:xfrm>
            <a:off x="6199632" y="4526280"/>
            <a:ext cx="82296" cy="914400"/>
          </a:xfrm>
          <a:prstGeom prst="rect">
            <a:avLst/>
          </a:prstGeom>
          <a:solidFill>
            <a:schemeClr val="accent4"/>
          </a:solidFill>
          <a:ln w="12700">
            <a:solidFill>
              <a:schemeClr val="accent1"/>
            </a:solidFill>
            <a:prstDash val="solid"/>
          </a:ln>
        </p:spPr>
      </p:sp>
      <p:sp>
        <p:nvSpPr>
          <p:cNvPr id="33" name="Text 31"/>
          <p:cNvSpPr txBox="1"/>
          <p:nvPr/>
        </p:nvSpPr>
        <p:spPr>
          <a:xfrm>
            <a:off x="6428232" y="4617720"/>
            <a:ext cx="4937760" cy="365760"/>
          </a:xfrm>
          <a:prstGeom prst="rect">
            <a:avLst/>
          </a:prstGeom>
          <a:noFill/>
          <a:ln/>
        </p:spPr>
        <p:txBody>
          <a:bodyPr wrap="square" lIns="0" tIns="0" rIns="0" bIns="0" rtlCol="0" anchor="ctr"/>
          <a:lstStyle/>
          <a:p>
            <a:pPr marL="0" indent="0">
              <a:buNone/>
            </a:pPr>
            <a:r>
              <a:rPr lang="en-US" sz="1500" b="1" dirty="0">
                <a:solidFill>
                  <a:schemeClr val="tx2"/>
                </a:solidFill>
              </a:rPr>
              <a:t>Chart.js</a:t>
            </a:r>
            <a:endParaRPr lang="en-US" sz="1500" dirty="0"/>
          </a:p>
        </p:txBody>
      </p:sp>
      <p:sp>
        <p:nvSpPr>
          <p:cNvPr id="34" name="Text 32"/>
          <p:cNvSpPr txBox="1"/>
          <p:nvPr/>
        </p:nvSpPr>
        <p:spPr>
          <a:xfrm>
            <a:off x="6428232" y="4983480"/>
            <a:ext cx="4937760" cy="365760"/>
          </a:xfrm>
          <a:prstGeom prst="rect">
            <a:avLst/>
          </a:prstGeom>
          <a:noFill/>
          <a:ln/>
        </p:spPr>
        <p:txBody>
          <a:bodyPr wrap="square" lIns="0" tIns="0" rIns="0" bIns="0" rtlCol="0" anchor="ctr"/>
          <a:lstStyle/>
          <a:p>
            <a:pPr marL="0" indent="0">
              <a:buNone/>
            </a:pPr>
            <a:r>
              <a:rPr lang="en-US" sz="1300" dirty="0">
                <a:solidFill>
                  <a:schemeClr val="tx1"/>
                </a:solidFill>
              </a:rPr>
              <a:t>Dashboard charts (CDN)</a:t>
            </a:r>
            <a:endParaRPr lang="en-US" sz="1300" dirty="0"/>
          </a:p>
        </p:txBody>
      </p:sp>
      <p:sp>
        <p:nvSpPr>
          <p:cNvPr id="35" name="Text 33"/>
          <p:cNvSpPr txBox="1"/>
          <p:nvPr/>
        </p:nvSpPr>
        <p:spPr>
          <a:xfrm>
            <a:off x="640080" y="5760720"/>
            <a:ext cx="10908792" cy="365760"/>
          </a:xfrm>
          <a:prstGeom prst="rect">
            <a:avLst/>
          </a:prstGeom>
          <a:noFill/>
          <a:ln/>
        </p:spPr>
        <p:txBody>
          <a:bodyPr wrap="square" lIns="0" tIns="0" rIns="0" bIns="0" rtlCol="0" anchor="ctr"/>
          <a:lstStyle/>
          <a:p>
            <a:pPr marL="0" indent="0" algn="ctr">
              <a:buNone/>
            </a:pPr>
            <a:r>
              <a:rPr lang="en-US" sz="1400" b="1" dirty="0">
                <a:solidFill>
                  <a:schemeClr val="accent1"/>
                </a:solidFill>
              </a:rPr>
              <a:t>Run locally:  http://localhost:3000   (npm install → npm start)</a:t>
            </a:r>
            <a:endParaRPr lang="en-US" sz="1400" dirty="0"/>
          </a:p>
        </p:txBody>
      </p:sp>
      <p:sp>
        <p:nvSpPr>
          <p:cNvPr id="36" name="Slide Number Placeholder 0"/>
          <p:cNvSpPr>
            <a:spLocks noGrp="1"/>
          </p:cNvSpPr>
          <p:nvPr>
            <p:ph type="sldNum" sz="quarter" idx="4294967295"/>
          </p:nvPr>
        </p:nvSpPr>
        <p:spPr>
          <a:xfrm>
            <a:off x="10789920" y="6400800"/>
            <a:ext cx="758952" cy="32004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1"/>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2011680"/>
            <a:ext cx="12188952" cy="73152"/>
          </a:xfrm>
          <a:prstGeom prst="rect">
            <a:avLst/>
          </a:prstGeom>
          <a:solidFill>
            <a:schemeClr val="accent1"/>
          </a:solidFill>
          <a:ln/>
        </p:spPr>
      </p:sp>
      <p:sp>
        <p:nvSpPr>
          <p:cNvPr id="3" name="Text 1"/>
          <p:cNvSpPr txBox="1"/>
          <p:nvPr/>
        </p:nvSpPr>
        <p:spPr>
          <a:xfrm>
            <a:off x="640080" y="2468880"/>
            <a:ext cx="10908792" cy="548640"/>
          </a:xfrm>
          <a:prstGeom prst="rect">
            <a:avLst/>
          </a:prstGeom>
          <a:noFill/>
          <a:ln/>
        </p:spPr>
        <p:txBody>
          <a:bodyPr wrap="square" lIns="0" tIns="0" rIns="0" bIns="0" rtlCol="0" anchor="ctr"/>
          <a:lstStyle/>
          <a:p>
            <a:pPr marL="0" indent="0" algn="ctr">
              <a:buNone/>
            </a:pPr>
            <a:r>
              <a:rPr lang="en-US" sz="2400" b="1" dirty="0">
                <a:solidFill>
                  <a:schemeClr val="accent1"/>
                </a:solidFill>
              </a:rPr>
              <a:t>SMART HOSTEL COMPLAINT MANAGEMENT SYSTEM</a:t>
            </a:r>
            <a:endParaRPr lang="en-US" sz="2400" dirty="0"/>
          </a:p>
        </p:txBody>
      </p:sp>
      <p:sp>
        <p:nvSpPr>
          <p:cNvPr id="5" name="Text 3"/>
          <p:cNvSpPr txBox="1"/>
          <p:nvPr/>
        </p:nvSpPr>
        <p:spPr>
          <a:xfrm>
            <a:off x="640080" y="3703320"/>
            <a:ext cx="10908792" cy="365760"/>
          </a:xfrm>
          <a:prstGeom prst="rect">
            <a:avLst/>
          </a:prstGeom>
          <a:noFill/>
          <a:ln/>
        </p:spPr>
        <p:txBody>
          <a:bodyPr wrap="square" lIns="0" tIns="0" rIns="0" bIns="0" rtlCol="0" anchor="ctr"/>
          <a:lstStyle/>
          <a:p>
            <a:pPr marL="0" indent="0" algn="ctr">
              <a:buNone/>
            </a:pPr>
            <a:endParaRPr lang="en-US" sz="1600" dirty="0"/>
          </a:p>
        </p:txBody>
      </p:sp>
      <p:sp>
        <p:nvSpPr>
          <p:cNvPr id="6" name="Text 4"/>
          <p:cNvSpPr txBox="1"/>
          <p:nvPr/>
        </p:nvSpPr>
        <p:spPr>
          <a:xfrm>
            <a:off x="640080" y="4572000"/>
            <a:ext cx="10908792" cy="822960"/>
          </a:xfrm>
          <a:prstGeom prst="rect">
            <a:avLst/>
          </a:prstGeom>
          <a:noFill/>
          <a:ln/>
        </p:spPr>
        <p:txBody>
          <a:bodyPr wrap="square" lIns="0" tIns="0" rIns="0" bIns="0" rtlCol="0" anchor="ctr"/>
          <a:lstStyle/>
          <a:p>
            <a:pPr marL="0" indent="0" algn="ctr">
              <a:buNone/>
            </a:pPr>
            <a:r>
              <a:rPr lang="en-US" sz="4400" b="1" dirty="0">
                <a:solidFill>
                  <a:schemeClr val="tx2"/>
                </a:solidFill>
              </a:rPr>
              <a:t>THANK YOU</a:t>
            </a:r>
            <a:endParaRPr lang="en-US" sz="4400" dirty="0"/>
          </a:p>
        </p:txBody>
      </p:sp>
    </p:spTree>
  </p:cSld>
  <p:clrMapOvr>
    <a:masterClrMapping/>
  </p:clrMapOvr>
</p:sld>
</file>

<file path=ppt/theme/theme1.xml><?xml version="1.0" encoding="utf-8"?>
<a:theme xmlns:a="http://schemas.openxmlformats.org/drawingml/2006/main" name="HostelReview">
  <a:themeElements>
    <a:clrScheme name="HostelReview">
      <a:dk1>
        <a:srgbClr val="1F2937"/>
      </a:dk1>
      <a:lt1>
        <a:srgbClr val="FFFFFF"/>
      </a:lt1>
      <a:dk2>
        <a:srgbClr val="1B2F5E"/>
      </a:dk2>
      <a:lt2>
        <a:srgbClr val="F3F5FA"/>
      </a:lt2>
      <a:accent1>
        <a:srgbClr val="D32027"/>
      </a:accent1>
      <a:accent2>
        <a:srgbClr val="6B4FD8"/>
      </a:accent2>
      <a:accent3>
        <a:srgbClr val="2E9BC6"/>
      </a:accent3>
      <a:accent4>
        <a:srgbClr val="1E9E6A"/>
      </a:accent4>
      <a:accent5>
        <a:srgbClr val="F59E0B"/>
      </a:accent5>
      <a:accent6>
        <a:srgbClr val="6B7280"/>
      </a:accent6>
      <a:hlink>
        <a:srgbClr val="1B2F5E"/>
      </a:hlink>
      <a:folHlink>
        <a:srgbClr val="6B7280"/>
      </a:folHlink>
    </a:clrScheme>
    <a:fontScheme name="HostelReview">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109</TotalTime>
  <Words>1188</Words>
  <Application>Microsoft Office PowerPoint</Application>
  <PresentationFormat>Widescreen</PresentationFormat>
  <Paragraphs>163</Paragraphs>
  <Slides>13</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Courier New</vt:lpstr>
      <vt:lpstr>HostelReview</vt:lpstr>
      <vt:lpstr>PowerPoint Presentation</vt:lpstr>
      <vt:lpstr>PowerPoint Presentation</vt:lpstr>
      <vt:lpstr>PowerPoint Presentation</vt:lpstr>
      <vt:lpstr>ABSTRACT</vt:lpstr>
      <vt:lpstr>PROJECT OBJECTIVES</vt:lpstr>
      <vt:lpstr>PROBLEM STATEMENT</vt:lpstr>
      <vt:lpstr>HTML &amp; CSS IMPLEMENTATION</vt:lpstr>
      <vt:lpstr>JAVASCRIPT – DOM, EVENTS &amp; DYNAMIC UI</vt:lpstr>
      <vt:lpstr>USER MODULES &amp; INTERFACES</vt:lpstr>
      <vt:lpstr>METHODOLOGY</vt:lpstr>
      <vt:lpstr>SYSTEM ARCHITECTURE</vt:lpstr>
      <vt:lpstr>TECHNOLOGIES USED</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Hostel Complaint Management System</dc:title>
  <dc:subject>PptxGenJS Presentation</dc:subject>
  <dc:creator>PptxGenJS</dc:creator>
  <cp:lastModifiedBy>Dharshini G</cp:lastModifiedBy>
  <cp:revision>4</cp:revision>
  <dcterms:created xsi:type="dcterms:W3CDTF">2026-10-08T07:32:28Z</dcterms:created>
  <dcterms:modified xsi:type="dcterms:W3CDTF">2026-10-08T15:06:40Z</dcterms:modified>
</cp:coreProperties>
</file>